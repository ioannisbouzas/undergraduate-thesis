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8288000" cy="10287000"/>
  <p:notesSz cx="6858000" cy="9144000"/>
  <p:embeddedFontLst>
    <p:embeddedFont>
      <p:font typeface="Arimo Bold" panose="020B0604020202020204" charset="0"/>
      <p:regular r:id="rId42"/>
    </p:embeddedFont>
    <p:embeddedFont>
      <p:font typeface="Arimo Italics" panose="020B0604020202020204" charset="0"/>
      <p:regular r:id="rId43"/>
    </p:embeddedFont>
    <p:embeddedFont>
      <p:font typeface="Canva Sans Italics" panose="020B0604020202020204" charset="0"/>
      <p:regular r:id="rId44"/>
    </p:embeddedFont>
    <p:embeddedFont>
      <p:font typeface="Inter" panose="020B0604020202020204" charset="0"/>
      <p:regular r:id="rId45"/>
    </p:embeddedFont>
    <p:embeddedFont>
      <p:font typeface="Inter Italics" panose="020B0604020202020204" charset="0"/>
      <p:regular r:id="rId46"/>
    </p:embeddedFont>
    <p:embeddedFont>
      <p:font typeface="Poppins" panose="00000500000000000000" pitchFamily="2" charset="0"/>
      <p:regular r:id="rId47"/>
    </p:embeddedFont>
    <p:embeddedFont>
      <p:font typeface="Poppins Bold" panose="020B0604020202020204" charset="0"/>
      <p:regular r:id="rId48"/>
    </p:embeddedFont>
    <p:embeddedFont>
      <p:font typeface="Poppins Italics" panose="020B0604020202020204" charset="0"/>
      <p:regular r:id="rId49"/>
    </p:embeddedFont>
    <p:embeddedFont>
      <p:font typeface="Raleway" pitchFamily="2" charset="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60433" autoAdjust="0"/>
  </p:normalViewPr>
  <p:slideViewPr>
    <p:cSldViewPr>
      <p:cViewPr varScale="1">
        <p:scale>
          <a:sx n="73" d="100"/>
          <a:sy n="73" d="100"/>
        </p:scale>
        <p:origin x="60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180" y="8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0712440" y="-4255285"/>
            <a:ext cx="14402987" cy="8615605"/>
          </a:xfrm>
          <a:custGeom>
            <a:avLst/>
            <a:gdLst/>
            <a:ahLst/>
            <a:cxnLst/>
            <a:rect l="l" t="t" r="r" b="b"/>
            <a:pathLst>
              <a:path w="14402987" h="8615605">
                <a:moveTo>
                  <a:pt x="0" y="8615605"/>
                </a:moveTo>
                <a:lnTo>
                  <a:pt x="14402987" y="8615605"/>
                </a:lnTo>
                <a:lnTo>
                  <a:pt x="14402987" y="0"/>
                </a:lnTo>
                <a:lnTo>
                  <a:pt x="0" y="0"/>
                </a:lnTo>
                <a:lnTo>
                  <a:pt x="0" y="8615605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6626966" y="6209857"/>
            <a:ext cx="14326395" cy="10575484"/>
          </a:xfrm>
          <a:custGeom>
            <a:avLst/>
            <a:gdLst/>
            <a:ahLst/>
            <a:cxnLst/>
            <a:rect l="l" t="t" r="r" b="b"/>
            <a:pathLst>
              <a:path w="14326395" h="10575484">
                <a:moveTo>
                  <a:pt x="0" y="0"/>
                </a:moveTo>
                <a:lnTo>
                  <a:pt x="14326394" y="0"/>
                </a:lnTo>
                <a:lnTo>
                  <a:pt x="14326394" y="10575484"/>
                </a:lnTo>
                <a:lnTo>
                  <a:pt x="0" y="105754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146321" y="3592744"/>
            <a:ext cx="12009603" cy="1112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8"/>
              </a:lnSpc>
            </a:pPr>
            <a:r>
              <a:rPr lang="en-US" sz="7400" spc="-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Token and Resource Aware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32076" y="4715043"/>
            <a:ext cx="12023848" cy="2112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7"/>
              </a:lnSpc>
            </a:pPr>
            <a:r>
              <a:rPr lang="en-US" sz="7399" spc="-399">
                <a:solidFill>
                  <a:srgbClr val="22D3EE"/>
                </a:solidFill>
                <a:latin typeface="Poppins"/>
                <a:ea typeface="Poppins"/>
                <a:cs typeface="Poppins"/>
                <a:sym typeface="Poppins"/>
              </a:rPr>
              <a:t>Long Term Memory for On Device Agents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50169" y="8332875"/>
            <a:ext cx="6587661" cy="798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Department of Computer Science &amp; Engineering</a:t>
            </a:r>
          </a:p>
          <a:p>
            <a:pPr marL="0" lvl="0" indent="0" algn="ctr">
              <a:lnSpc>
                <a:spcPts val="324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University of Ioannina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999" y="472542"/>
            <a:ext cx="2806938" cy="111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0"/>
              </a:lnSpc>
            </a:pPr>
            <a:r>
              <a:rPr lang="en-US" sz="317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Ioannis Bouzas</a:t>
            </a:r>
          </a:p>
          <a:p>
            <a:pPr algn="l">
              <a:lnSpc>
                <a:spcPts val="4450"/>
              </a:lnSpc>
            </a:pPr>
            <a:r>
              <a:rPr lang="en-US" sz="317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Student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07715" y="8182360"/>
            <a:ext cx="4106219" cy="1108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46"/>
              </a:lnSpc>
            </a:pPr>
            <a:r>
              <a:rPr lang="en-US" sz="317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Konstantinos Skianis</a:t>
            </a:r>
          </a:p>
          <a:p>
            <a:pPr algn="r">
              <a:lnSpc>
                <a:spcPts val="4446"/>
              </a:lnSpc>
            </a:pPr>
            <a:r>
              <a:rPr lang="en-US" sz="317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Supervisor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716250" y="1028700"/>
            <a:ext cx="1543050" cy="1457325"/>
            <a:chOff x="0" y="0"/>
            <a:chExt cx="685800" cy="647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5800" cy="647700"/>
            </a:xfrm>
            <a:custGeom>
              <a:avLst/>
              <a:gdLst/>
              <a:ahLst/>
              <a:cxnLst/>
              <a:rect l="l" t="t" r="r" b="b"/>
              <a:pathLst>
                <a:path w="685800" h="647700">
                  <a:moveTo>
                    <a:pt x="546100" y="50800"/>
                  </a:moveTo>
                  <a:lnTo>
                    <a:pt x="419100" y="279400"/>
                  </a:lnTo>
                  <a:lnTo>
                    <a:pt x="685800" y="279400"/>
                  </a:lnTo>
                  <a:lnTo>
                    <a:pt x="685800" y="368300"/>
                  </a:lnTo>
                  <a:lnTo>
                    <a:pt x="419100" y="368300"/>
                  </a:lnTo>
                  <a:lnTo>
                    <a:pt x="546100" y="596900"/>
                  </a:lnTo>
                  <a:lnTo>
                    <a:pt x="469900" y="647700"/>
                  </a:lnTo>
                  <a:lnTo>
                    <a:pt x="342900" y="406400"/>
                  </a:lnTo>
                  <a:lnTo>
                    <a:pt x="203200" y="647700"/>
                  </a:lnTo>
                  <a:lnTo>
                    <a:pt x="127000" y="596900"/>
                  </a:lnTo>
                  <a:lnTo>
                    <a:pt x="266700" y="368300"/>
                  </a:lnTo>
                  <a:lnTo>
                    <a:pt x="0" y="368300"/>
                  </a:lnTo>
                  <a:lnTo>
                    <a:pt x="0" y="279400"/>
                  </a:lnTo>
                  <a:lnTo>
                    <a:pt x="266700" y="279400"/>
                  </a:lnTo>
                  <a:lnTo>
                    <a:pt x="127000" y="50800"/>
                  </a:lnTo>
                  <a:lnTo>
                    <a:pt x="203200" y="0"/>
                  </a:lnTo>
                  <a:lnTo>
                    <a:pt x="342900" y="241300"/>
                  </a:lnTo>
                  <a:lnTo>
                    <a:pt x="469900" y="0"/>
                  </a:lnTo>
                  <a:lnTo>
                    <a:pt x="546100" y="50800"/>
                  </a:lnTo>
                  <a:close/>
                </a:path>
              </a:pathLst>
            </a:custGeom>
            <a:solidFill>
              <a:srgbClr val="0F172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1450" y="85725"/>
              <a:ext cx="342900" cy="40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3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354092" y="1212761"/>
            <a:ext cx="4944385" cy="8790018"/>
          </a:xfrm>
          <a:custGeom>
            <a:avLst/>
            <a:gdLst/>
            <a:ahLst/>
            <a:cxnLst/>
            <a:rect l="l" t="t" r="r" b="b"/>
            <a:pathLst>
              <a:path w="4944385" h="8790018">
                <a:moveTo>
                  <a:pt x="0" y="0"/>
                </a:moveTo>
                <a:lnTo>
                  <a:pt x="4944385" y="0"/>
                </a:lnTo>
                <a:lnTo>
                  <a:pt x="4944385" y="8790018"/>
                </a:lnTo>
                <a:lnTo>
                  <a:pt x="0" y="8790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933908" y="129540"/>
            <a:ext cx="6420184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20"/>
              </a:lnSpc>
            </a:pPr>
            <a:r>
              <a:rPr lang="en-US" sz="6000" spc="-3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Local Inference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317132"/>
            <a:ext cx="9338139" cy="248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Google AI Edge Gallery lets you run the world's most powerful open-source Large Language Models (LLMs) on your mobile device. Fully offline, private, and lightning-fast.</a:t>
            </a:r>
          </a:p>
          <a:p>
            <a:pPr algn="ctr">
              <a:lnSpc>
                <a:spcPts val="40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40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Agentic Skills, Chat and Mobile Actions, everything locally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9734960"/>
            <a:ext cx="4408399" cy="267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3"/>
              </a:lnSpc>
              <a:spcBef>
                <a:spcPct val="0"/>
              </a:spcBef>
            </a:pPr>
            <a:r>
              <a:rPr lang="en-US" sz="1397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Source: https://github.com/google-ai-edge/gallery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4424" y="2447925"/>
            <a:ext cx="5055673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flipV="1">
            <a:off x="5960497" y="5051255"/>
            <a:ext cx="5031607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7033352" y="5957591"/>
            <a:ext cx="12080616" cy="8917691"/>
          </a:xfrm>
          <a:custGeom>
            <a:avLst/>
            <a:gdLst/>
            <a:ahLst/>
            <a:cxnLst/>
            <a:rect l="l" t="t" r="r" b="b"/>
            <a:pathLst>
              <a:path w="12080616" h="8917691">
                <a:moveTo>
                  <a:pt x="0" y="0"/>
                </a:moveTo>
                <a:lnTo>
                  <a:pt x="12080615" y="0"/>
                </a:lnTo>
                <a:lnTo>
                  <a:pt x="12080615" y="8917691"/>
                </a:lnTo>
                <a:lnTo>
                  <a:pt x="0" y="89176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2227621" y="7507573"/>
            <a:ext cx="5031607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3200898" y="921316"/>
            <a:ext cx="2143684" cy="2143684"/>
          </a:xfrm>
          <a:custGeom>
            <a:avLst/>
            <a:gdLst/>
            <a:ahLst/>
            <a:cxnLst/>
            <a:rect l="l" t="t" r="r" b="b"/>
            <a:pathLst>
              <a:path w="2143684" h="2143684">
                <a:moveTo>
                  <a:pt x="0" y="0"/>
                </a:moveTo>
                <a:lnTo>
                  <a:pt x="2143684" y="0"/>
                </a:lnTo>
                <a:lnTo>
                  <a:pt x="2143684" y="2143683"/>
                </a:lnTo>
                <a:lnTo>
                  <a:pt x="0" y="21436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640381" y="1100086"/>
            <a:ext cx="1824243" cy="1824243"/>
          </a:xfrm>
          <a:custGeom>
            <a:avLst/>
            <a:gdLst/>
            <a:ahLst/>
            <a:cxnLst/>
            <a:rect l="l" t="t" r="r" b="b"/>
            <a:pathLst>
              <a:path w="1824243" h="1824243">
                <a:moveTo>
                  <a:pt x="0" y="0"/>
                </a:moveTo>
                <a:lnTo>
                  <a:pt x="1824243" y="0"/>
                </a:lnTo>
                <a:lnTo>
                  <a:pt x="1824243" y="1824243"/>
                </a:lnTo>
                <a:lnTo>
                  <a:pt x="0" y="18242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963432" y="2917082"/>
            <a:ext cx="4762300" cy="1402808"/>
          </a:xfrm>
          <a:custGeom>
            <a:avLst/>
            <a:gdLst/>
            <a:ahLst/>
            <a:cxnLst/>
            <a:rect l="l" t="t" r="r" b="b"/>
            <a:pathLst>
              <a:path w="4762300" h="1402808">
                <a:moveTo>
                  <a:pt x="0" y="0"/>
                </a:moveTo>
                <a:lnTo>
                  <a:pt x="4762300" y="0"/>
                </a:lnTo>
                <a:lnTo>
                  <a:pt x="4762300" y="1402808"/>
                </a:lnTo>
                <a:lnTo>
                  <a:pt x="0" y="14028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130456" y="4094304"/>
            <a:ext cx="5019851" cy="2224243"/>
          </a:xfrm>
          <a:custGeom>
            <a:avLst/>
            <a:gdLst/>
            <a:ahLst/>
            <a:cxnLst/>
            <a:rect l="l" t="t" r="r" b="b"/>
            <a:pathLst>
              <a:path w="5019851" h="2224243">
                <a:moveTo>
                  <a:pt x="0" y="0"/>
                </a:moveTo>
                <a:lnTo>
                  <a:pt x="5019851" y="0"/>
                </a:lnTo>
                <a:lnTo>
                  <a:pt x="5019851" y="2224243"/>
                </a:lnTo>
                <a:lnTo>
                  <a:pt x="0" y="22242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3242416" y="7707598"/>
            <a:ext cx="3235424" cy="1263652"/>
            <a:chOff x="0" y="0"/>
            <a:chExt cx="852128" cy="3328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2128" cy="332814"/>
            </a:xfrm>
            <a:custGeom>
              <a:avLst/>
              <a:gdLst/>
              <a:ahLst/>
              <a:cxnLst/>
              <a:rect l="l" t="t" r="r" b="b"/>
              <a:pathLst>
                <a:path w="852128" h="332814">
                  <a:moveTo>
                    <a:pt x="166407" y="0"/>
                  </a:moveTo>
                  <a:lnTo>
                    <a:pt x="685721" y="0"/>
                  </a:lnTo>
                  <a:cubicBezTo>
                    <a:pt x="729855" y="0"/>
                    <a:pt x="772181" y="17532"/>
                    <a:pt x="803389" y="48739"/>
                  </a:cubicBezTo>
                  <a:cubicBezTo>
                    <a:pt x="834596" y="79947"/>
                    <a:pt x="852128" y="122273"/>
                    <a:pt x="852128" y="166407"/>
                  </a:cubicBezTo>
                  <a:lnTo>
                    <a:pt x="852128" y="166407"/>
                  </a:lnTo>
                  <a:cubicBezTo>
                    <a:pt x="852128" y="258311"/>
                    <a:pt x="777625" y="332814"/>
                    <a:pt x="685721" y="332814"/>
                  </a:cubicBezTo>
                  <a:lnTo>
                    <a:pt x="166407" y="332814"/>
                  </a:lnTo>
                  <a:cubicBezTo>
                    <a:pt x="74503" y="332814"/>
                    <a:pt x="0" y="258311"/>
                    <a:pt x="0" y="166407"/>
                  </a:cubicBezTo>
                  <a:lnTo>
                    <a:pt x="0" y="166407"/>
                  </a:lnTo>
                  <a:cubicBezTo>
                    <a:pt x="0" y="74503"/>
                    <a:pt x="74503" y="0"/>
                    <a:pt x="16640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34C2E0">
                      <a:alpha val="100000"/>
                    </a:srgbClr>
                  </a:gs>
                  <a:gs pos="100000">
                    <a:srgbClr val="005B95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852128" cy="3232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4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428539" y="97663"/>
            <a:ext cx="9430922" cy="899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20"/>
              </a:lnSpc>
              <a:spcBef>
                <a:spcPct val="0"/>
              </a:spcBef>
            </a:pPr>
            <a:r>
              <a:rPr lang="en-US" sz="6000" u="none" strike="noStrike" spc="-32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SLM releases over time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8135" y="1757787"/>
            <a:ext cx="1978559" cy="509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3397" spc="-1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33540" y="2657475"/>
            <a:ext cx="1792254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4"/>
              </a:lnSpc>
            </a:pPr>
            <a:r>
              <a:rPr lang="en-US" sz="2499" spc="-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Phi 3 mini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33540" y="3194050"/>
            <a:ext cx="1727748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4"/>
              </a:lnSpc>
            </a:pPr>
            <a:r>
              <a:rPr lang="en-US" sz="2499" spc="-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Llama 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65793" y="3730625"/>
            <a:ext cx="1727748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4"/>
              </a:lnSpc>
            </a:pPr>
            <a:r>
              <a:rPr lang="en-US" sz="2499" spc="-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Gemma 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4194" y="4240258"/>
            <a:ext cx="3066439" cy="698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2"/>
              </a:lnSpc>
            </a:pPr>
            <a:r>
              <a:rPr lang="en-US" sz="2497" spc="-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OpenELM</a:t>
            </a:r>
          </a:p>
          <a:p>
            <a:pPr algn="ctr">
              <a:lnSpc>
                <a:spcPts val="2672"/>
              </a:lnSpc>
            </a:pPr>
            <a:r>
              <a:rPr lang="en-US" sz="2497" spc="-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(Apple Products)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8248" y="4319890"/>
            <a:ext cx="1978559" cy="509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3397" spc="-1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33654" y="5437155"/>
            <a:ext cx="1727748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499" spc="-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Gemma 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33654" y="5967116"/>
            <a:ext cx="1727748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499" spc="-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Phi 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33654" y="6494166"/>
            <a:ext cx="1727748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499" spc="-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Qwen 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33654" y="7021216"/>
            <a:ext cx="1727748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499" spc="-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Ministral 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870849" y="6859291"/>
            <a:ext cx="1978559" cy="509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3397" spc="-18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996254" y="7827270"/>
            <a:ext cx="1727748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499" spc="-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Gemma 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996254" y="8478145"/>
            <a:ext cx="1727748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4"/>
              </a:lnSpc>
              <a:spcBef>
                <a:spcPct val="0"/>
              </a:spcBef>
            </a:pPr>
            <a:r>
              <a:rPr lang="en-US" sz="2499" spc="-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Qwen 3.5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996254" y="9129020"/>
            <a:ext cx="1727748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74"/>
              </a:lnSpc>
              <a:spcBef>
                <a:spcPct val="0"/>
              </a:spcBef>
            </a:pPr>
            <a:r>
              <a:rPr lang="en-US" sz="2499" u="none" strike="noStrike" spc="-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LFM 2.5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310239" y="9049632"/>
            <a:ext cx="6780511" cy="323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i="1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Every family has models of about 4B parameters or fewer.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184906" y="9736108"/>
            <a:ext cx="5031179" cy="3225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</a:pPr>
            <a:r>
              <a:rPr lang="en-US" sz="1897" i="1" dirty="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Sources: https://ollama.com/search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60913" y="4692269"/>
            <a:ext cx="7966174" cy="92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4"/>
              </a:lnSpc>
              <a:spcBef>
                <a:spcPct val="0"/>
              </a:spcBef>
            </a:pPr>
            <a:r>
              <a:rPr lang="en-US" sz="6200" spc="-3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Fundamental Problem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60913" y="107188"/>
            <a:ext cx="7966174" cy="92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4"/>
              </a:lnSpc>
              <a:spcBef>
                <a:spcPct val="0"/>
              </a:spcBef>
            </a:pPr>
            <a:r>
              <a:rPr lang="en-US" sz="6200" spc="-3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Fundamental 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558260" y="4670425"/>
            <a:ext cx="5176540" cy="804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  <a:spcBef>
                <a:spcPct val="0"/>
              </a:spcBef>
            </a:pPr>
            <a:r>
              <a:rPr lang="en-US" sz="5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Context Window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49211" y="4610100"/>
            <a:ext cx="11189578" cy="100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context window is the model’s working memory — and working memory is expensive.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836051" y="1403210"/>
            <a:ext cx="6615897" cy="1275558"/>
            <a:chOff x="0" y="0"/>
            <a:chExt cx="1742458" cy="335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42459" cy="335949"/>
            </a:xfrm>
            <a:custGeom>
              <a:avLst/>
              <a:gdLst/>
              <a:ahLst/>
              <a:cxnLst/>
              <a:rect l="l" t="t" r="r" b="b"/>
              <a:pathLst>
                <a:path w="1742459" h="335949">
                  <a:moveTo>
                    <a:pt x="0" y="0"/>
                  </a:moveTo>
                  <a:lnTo>
                    <a:pt x="1742459" y="0"/>
                  </a:lnTo>
                  <a:lnTo>
                    <a:pt x="1742459" y="335949"/>
                  </a:lnTo>
                  <a:lnTo>
                    <a:pt x="0" y="335949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42458" cy="374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069991" y="107188"/>
            <a:ext cx="8148017" cy="92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34"/>
              </a:lnSpc>
              <a:spcBef>
                <a:spcPct val="0"/>
              </a:spcBef>
            </a:pPr>
            <a:r>
              <a:rPr lang="en-US" sz="6200" spc="-3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Fundamental Problem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58089" y="1651007"/>
            <a:ext cx="5309900" cy="8047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500"/>
              </a:lnSpc>
              <a:spcBef>
                <a:spcPct val="0"/>
              </a:spcBef>
            </a:pPr>
            <a:r>
              <a:rPr lang="en-US" sz="5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Context Window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340571" y="4515895"/>
            <a:ext cx="11644955" cy="1275558"/>
            <a:chOff x="0" y="0"/>
            <a:chExt cx="3066984" cy="3359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66984" cy="335949"/>
            </a:xfrm>
            <a:custGeom>
              <a:avLst/>
              <a:gdLst/>
              <a:ahLst/>
              <a:cxnLst/>
              <a:rect l="l" t="t" r="r" b="b"/>
              <a:pathLst>
                <a:path w="3066984" h="335949">
                  <a:moveTo>
                    <a:pt x="0" y="0"/>
                  </a:moveTo>
                  <a:lnTo>
                    <a:pt x="3066984" y="0"/>
                  </a:lnTo>
                  <a:lnTo>
                    <a:pt x="3066984" y="335949"/>
                  </a:lnTo>
                  <a:lnTo>
                    <a:pt x="0" y="335949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066984" cy="374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549210" y="7977156"/>
            <a:ext cx="2773355" cy="482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  <a:spcBef>
                <a:spcPct val="0"/>
              </a:spcBef>
            </a:pPr>
            <a:r>
              <a:rPr lang="en-US" sz="30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COMPUTE TIME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88213" y="7977156"/>
            <a:ext cx="2897311" cy="482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  <a:spcBef>
                <a:spcPct val="0"/>
              </a:spcBef>
            </a:pPr>
            <a:r>
              <a:rPr lang="en-US" sz="30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BATTERY DRAIN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51254" y="7977156"/>
            <a:ext cx="2311944" cy="482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  <a:spcBef>
                <a:spcPct val="0"/>
              </a:spcBef>
            </a:pPr>
            <a:r>
              <a:rPr lang="en-US" sz="30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HEAT &amp; RAM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144000" y="2678767"/>
            <a:ext cx="19048" cy="183712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4751185" y="7246654"/>
            <a:ext cx="0" cy="63525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9163050" y="7227604"/>
            <a:ext cx="0" cy="63525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13474894" y="7246654"/>
            <a:ext cx="0" cy="63525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4751185" y="7246654"/>
            <a:ext cx="8723709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9163048" y="5791452"/>
            <a:ext cx="2" cy="1436152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4300"/>
            <a:ext cx="1623060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One conversation, 419 turns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24000" y="2857500"/>
            <a:ext cx="15240000" cy="95250"/>
            <a:chOff x="0" y="0"/>
            <a:chExt cx="20320000" cy="127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320000" cy="127000"/>
            </a:xfrm>
            <a:custGeom>
              <a:avLst/>
              <a:gdLst/>
              <a:ahLst/>
              <a:cxnLst/>
              <a:rect l="l" t="t" r="r" b="b"/>
              <a:pathLst>
                <a:path w="20320000" h="127000">
                  <a:moveTo>
                    <a:pt x="3969" y="0"/>
                  </a:moveTo>
                  <a:lnTo>
                    <a:pt x="20316031" y="0"/>
                  </a:lnTo>
                  <a:cubicBezTo>
                    <a:pt x="20318223" y="0"/>
                    <a:pt x="20320000" y="1777"/>
                    <a:pt x="20320000" y="3969"/>
                  </a:cubicBezTo>
                  <a:lnTo>
                    <a:pt x="20320000" y="123031"/>
                  </a:lnTo>
                  <a:cubicBezTo>
                    <a:pt x="20320000" y="125223"/>
                    <a:pt x="20318223" y="127000"/>
                    <a:pt x="20316031" y="127000"/>
                  </a:cubicBezTo>
                  <a:lnTo>
                    <a:pt x="3969" y="127000"/>
                  </a:lnTo>
                  <a:cubicBezTo>
                    <a:pt x="1777" y="127000"/>
                    <a:pt x="0" y="125223"/>
                    <a:pt x="0" y="123031"/>
                  </a:cubicBezTo>
                  <a:lnTo>
                    <a:pt x="0" y="3969"/>
                  </a:lnTo>
                  <a:cubicBezTo>
                    <a:pt x="0" y="1777"/>
                    <a:pt x="1777" y="0"/>
                    <a:pt x="3969" y="0"/>
                  </a:cubicBezTo>
                  <a:close/>
                </a:path>
              </a:pathLst>
            </a:custGeom>
            <a:solidFill>
              <a:srgbClr val="47556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0320000" cy="155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04950" y="2762250"/>
            <a:ext cx="15278100" cy="285750"/>
            <a:chOff x="0" y="0"/>
            <a:chExt cx="20370800" cy="381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370800" cy="381000"/>
            </a:xfrm>
            <a:custGeom>
              <a:avLst/>
              <a:gdLst/>
              <a:ahLst/>
              <a:cxnLst/>
              <a:rect l="l" t="t" r="r" b="b"/>
              <a:pathLst>
                <a:path w="20370800" h="381000">
                  <a:moveTo>
                    <a:pt x="0" y="0"/>
                  </a:moveTo>
                  <a:lnTo>
                    <a:pt x="50800" y="0"/>
                  </a:lnTo>
                  <a:lnTo>
                    <a:pt x="50800" y="381000"/>
                  </a:lnTo>
                  <a:lnTo>
                    <a:pt x="0" y="381000"/>
                  </a:lnTo>
                  <a:close/>
                  <a:moveTo>
                    <a:pt x="1129030" y="0"/>
                  </a:moveTo>
                  <a:lnTo>
                    <a:pt x="1179830" y="0"/>
                  </a:lnTo>
                  <a:lnTo>
                    <a:pt x="1179830" y="381000"/>
                  </a:lnTo>
                  <a:lnTo>
                    <a:pt x="1129030" y="381000"/>
                  </a:lnTo>
                  <a:close/>
                  <a:moveTo>
                    <a:pt x="2258060" y="0"/>
                  </a:moveTo>
                  <a:lnTo>
                    <a:pt x="2308860" y="0"/>
                  </a:lnTo>
                  <a:lnTo>
                    <a:pt x="2308860" y="381000"/>
                  </a:lnTo>
                  <a:lnTo>
                    <a:pt x="2258060" y="381000"/>
                  </a:lnTo>
                  <a:close/>
                  <a:moveTo>
                    <a:pt x="3387090" y="0"/>
                  </a:moveTo>
                  <a:lnTo>
                    <a:pt x="3437890" y="0"/>
                  </a:lnTo>
                  <a:lnTo>
                    <a:pt x="3437890" y="381000"/>
                  </a:lnTo>
                  <a:lnTo>
                    <a:pt x="3387090" y="381000"/>
                  </a:lnTo>
                  <a:close/>
                  <a:moveTo>
                    <a:pt x="4516120" y="0"/>
                  </a:moveTo>
                  <a:lnTo>
                    <a:pt x="4566920" y="0"/>
                  </a:lnTo>
                  <a:lnTo>
                    <a:pt x="4566920" y="381000"/>
                  </a:lnTo>
                  <a:lnTo>
                    <a:pt x="4516120" y="381000"/>
                  </a:lnTo>
                  <a:close/>
                  <a:moveTo>
                    <a:pt x="5643880" y="0"/>
                  </a:moveTo>
                  <a:lnTo>
                    <a:pt x="5694680" y="0"/>
                  </a:lnTo>
                  <a:lnTo>
                    <a:pt x="5694680" y="381000"/>
                  </a:lnTo>
                  <a:lnTo>
                    <a:pt x="5643880" y="381000"/>
                  </a:lnTo>
                  <a:close/>
                  <a:moveTo>
                    <a:pt x="6772910" y="0"/>
                  </a:moveTo>
                  <a:lnTo>
                    <a:pt x="6823710" y="0"/>
                  </a:lnTo>
                  <a:lnTo>
                    <a:pt x="6823710" y="381000"/>
                  </a:lnTo>
                  <a:lnTo>
                    <a:pt x="6772910" y="381000"/>
                  </a:lnTo>
                  <a:close/>
                  <a:moveTo>
                    <a:pt x="7901940" y="0"/>
                  </a:moveTo>
                  <a:lnTo>
                    <a:pt x="7952740" y="0"/>
                  </a:lnTo>
                  <a:lnTo>
                    <a:pt x="7952740" y="381000"/>
                  </a:lnTo>
                  <a:lnTo>
                    <a:pt x="7901940" y="381000"/>
                  </a:lnTo>
                  <a:close/>
                  <a:moveTo>
                    <a:pt x="9030970" y="0"/>
                  </a:moveTo>
                  <a:lnTo>
                    <a:pt x="9081770" y="0"/>
                  </a:lnTo>
                  <a:lnTo>
                    <a:pt x="9081770" y="381000"/>
                  </a:lnTo>
                  <a:lnTo>
                    <a:pt x="9030970" y="381000"/>
                  </a:lnTo>
                  <a:close/>
                  <a:moveTo>
                    <a:pt x="10160000" y="0"/>
                  </a:moveTo>
                  <a:lnTo>
                    <a:pt x="10210800" y="0"/>
                  </a:lnTo>
                  <a:lnTo>
                    <a:pt x="10210800" y="381000"/>
                  </a:lnTo>
                  <a:lnTo>
                    <a:pt x="10160000" y="381000"/>
                  </a:lnTo>
                  <a:close/>
                  <a:moveTo>
                    <a:pt x="11289030" y="0"/>
                  </a:moveTo>
                  <a:lnTo>
                    <a:pt x="11339830" y="0"/>
                  </a:lnTo>
                  <a:lnTo>
                    <a:pt x="11339830" y="381000"/>
                  </a:lnTo>
                  <a:lnTo>
                    <a:pt x="11289030" y="381000"/>
                  </a:lnTo>
                  <a:close/>
                  <a:moveTo>
                    <a:pt x="12418060" y="0"/>
                  </a:moveTo>
                  <a:lnTo>
                    <a:pt x="12468860" y="0"/>
                  </a:lnTo>
                  <a:lnTo>
                    <a:pt x="12468860" y="381000"/>
                  </a:lnTo>
                  <a:lnTo>
                    <a:pt x="12418060" y="381000"/>
                  </a:lnTo>
                  <a:close/>
                  <a:moveTo>
                    <a:pt x="13547089" y="0"/>
                  </a:moveTo>
                  <a:lnTo>
                    <a:pt x="13597889" y="0"/>
                  </a:lnTo>
                  <a:lnTo>
                    <a:pt x="13597889" y="381000"/>
                  </a:lnTo>
                  <a:lnTo>
                    <a:pt x="13547089" y="381000"/>
                  </a:lnTo>
                  <a:close/>
                  <a:moveTo>
                    <a:pt x="14676120" y="0"/>
                  </a:moveTo>
                  <a:lnTo>
                    <a:pt x="14726920" y="0"/>
                  </a:lnTo>
                  <a:lnTo>
                    <a:pt x="14726920" y="381000"/>
                  </a:lnTo>
                  <a:lnTo>
                    <a:pt x="14676120" y="381000"/>
                  </a:lnTo>
                  <a:close/>
                  <a:moveTo>
                    <a:pt x="15803880" y="0"/>
                  </a:moveTo>
                  <a:lnTo>
                    <a:pt x="15854680" y="0"/>
                  </a:lnTo>
                  <a:lnTo>
                    <a:pt x="15854680" y="381000"/>
                  </a:lnTo>
                  <a:lnTo>
                    <a:pt x="15803880" y="381000"/>
                  </a:lnTo>
                  <a:close/>
                  <a:moveTo>
                    <a:pt x="16932911" y="0"/>
                  </a:moveTo>
                  <a:lnTo>
                    <a:pt x="16983711" y="0"/>
                  </a:lnTo>
                  <a:lnTo>
                    <a:pt x="16983711" y="381000"/>
                  </a:lnTo>
                  <a:lnTo>
                    <a:pt x="16932911" y="381000"/>
                  </a:lnTo>
                  <a:close/>
                  <a:moveTo>
                    <a:pt x="18061939" y="0"/>
                  </a:moveTo>
                  <a:lnTo>
                    <a:pt x="18112739" y="0"/>
                  </a:lnTo>
                  <a:lnTo>
                    <a:pt x="18112739" y="381000"/>
                  </a:lnTo>
                  <a:lnTo>
                    <a:pt x="18061939" y="381000"/>
                  </a:lnTo>
                  <a:close/>
                  <a:moveTo>
                    <a:pt x="19190970" y="0"/>
                  </a:moveTo>
                  <a:lnTo>
                    <a:pt x="19241770" y="0"/>
                  </a:lnTo>
                  <a:lnTo>
                    <a:pt x="19241770" y="381000"/>
                  </a:lnTo>
                  <a:lnTo>
                    <a:pt x="19190970" y="381000"/>
                  </a:lnTo>
                  <a:close/>
                  <a:moveTo>
                    <a:pt x="20320000" y="0"/>
                  </a:moveTo>
                  <a:lnTo>
                    <a:pt x="20370800" y="0"/>
                  </a:lnTo>
                  <a:lnTo>
                    <a:pt x="20370800" y="381000"/>
                  </a:lnTo>
                  <a:lnTo>
                    <a:pt x="20320000" y="381000"/>
                  </a:lnTo>
                  <a:close/>
                </a:path>
              </a:pathLst>
            </a:custGeom>
            <a:solidFill>
              <a:srgbClr val="64748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0370800" cy="40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887450" y="2667000"/>
            <a:ext cx="2876550" cy="476250"/>
            <a:chOff x="0" y="0"/>
            <a:chExt cx="3835400" cy="635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835400" cy="635000"/>
            </a:xfrm>
            <a:custGeom>
              <a:avLst/>
              <a:gdLst/>
              <a:ahLst/>
              <a:cxnLst/>
              <a:rect l="l" t="t" r="r" b="b"/>
              <a:pathLst>
                <a:path w="3835400" h="635000">
                  <a:moveTo>
                    <a:pt x="25232" y="0"/>
                  </a:moveTo>
                  <a:lnTo>
                    <a:pt x="3810168" y="0"/>
                  </a:lnTo>
                  <a:cubicBezTo>
                    <a:pt x="3824103" y="0"/>
                    <a:pt x="3835400" y="11297"/>
                    <a:pt x="3835400" y="25232"/>
                  </a:cubicBezTo>
                  <a:lnTo>
                    <a:pt x="3835400" y="609768"/>
                  </a:lnTo>
                  <a:cubicBezTo>
                    <a:pt x="3835400" y="623703"/>
                    <a:pt x="3824103" y="635000"/>
                    <a:pt x="3810168" y="635000"/>
                  </a:cubicBezTo>
                  <a:lnTo>
                    <a:pt x="25232" y="635000"/>
                  </a:lnTo>
                  <a:cubicBezTo>
                    <a:pt x="11297" y="635000"/>
                    <a:pt x="0" y="623703"/>
                    <a:pt x="0" y="609768"/>
                  </a:cubicBezTo>
                  <a:lnTo>
                    <a:pt x="0" y="25232"/>
                  </a:lnTo>
                  <a:cubicBezTo>
                    <a:pt x="0" y="11297"/>
                    <a:pt x="11297" y="0"/>
                    <a:pt x="25232" y="0"/>
                  </a:cubicBezTo>
                  <a:close/>
                </a:path>
              </a:pathLst>
            </a:custGeom>
            <a:solidFill>
              <a:srgbClr val="22D3EE">
                <a:alpha val="44706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3835400" cy="663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209800" y="2381250"/>
            <a:ext cx="28575" cy="428625"/>
            <a:chOff x="0" y="0"/>
            <a:chExt cx="38100" cy="571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100" cy="571500"/>
            </a:xfrm>
            <a:custGeom>
              <a:avLst/>
              <a:gdLst/>
              <a:ahLst/>
              <a:cxnLst/>
              <a:rect l="l" t="t" r="r" b="b"/>
              <a:pathLst>
                <a:path w="38100" h="571500">
                  <a:moveTo>
                    <a:pt x="0" y="0"/>
                  </a:moveTo>
                  <a:lnTo>
                    <a:pt x="38100" y="0"/>
                  </a:lnTo>
                  <a:lnTo>
                    <a:pt x="381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8100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105025" y="2790825"/>
            <a:ext cx="228600" cy="228600"/>
            <a:chOff x="0" y="0"/>
            <a:chExt cx="304800" cy="304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0"/>
                  </a:moveTo>
                  <a:cubicBezTo>
                    <a:pt x="236568" y="0"/>
                    <a:pt x="304800" y="68232"/>
                    <a:pt x="304800" y="152400"/>
                  </a:cubicBezTo>
                  <a:cubicBezTo>
                    <a:pt x="304800" y="236568"/>
                    <a:pt x="236568" y="304800"/>
                    <a:pt x="152400" y="304800"/>
                  </a:cubicBezTo>
                  <a:cubicBezTo>
                    <a:pt x="68232" y="304800"/>
                    <a:pt x="0" y="236568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59E0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304800" cy="333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24000" y="1485900"/>
            <a:ext cx="76200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Turn 20 · 25 May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“…raising awareness for mental health…”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96500" y="2152650"/>
            <a:ext cx="66675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Last 79 turns: kept by the history budget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24000" y="3181350"/>
            <a:ext cx="28575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May 2023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906500" y="3181350"/>
            <a:ext cx="28575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Oct 2023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34000" y="3181350"/>
            <a:ext cx="76200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19 sessions  ·  two friends  ·  five months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4000" y="4171950"/>
            <a:ext cx="15240000" cy="701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“What did the charity race raise awareness for?”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524000" y="5524500"/>
            <a:ext cx="7239000" cy="3143250"/>
            <a:chOff x="0" y="0"/>
            <a:chExt cx="9652000" cy="4191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652000" cy="4191000"/>
            </a:xfrm>
            <a:custGeom>
              <a:avLst/>
              <a:gdLst/>
              <a:ahLst/>
              <a:cxnLst/>
              <a:rect l="l" t="t" r="r" b="b"/>
              <a:pathLst>
                <a:path w="9652000" h="4191000">
                  <a:moveTo>
                    <a:pt x="40105" y="0"/>
                  </a:moveTo>
                  <a:lnTo>
                    <a:pt x="9611895" y="0"/>
                  </a:lnTo>
                  <a:cubicBezTo>
                    <a:pt x="9634045" y="0"/>
                    <a:pt x="9652000" y="17956"/>
                    <a:pt x="9652000" y="40105"/>
                  </a:cubicBezTo>
                  <a:lnTo>
                    <a:pt x="9652000" y="4150895"/>
                  </a:lnTo>
                  <a:cubicBezTo>
                    <a:pt x="9652000" y="4173044"/>
                    <a:pt x="9634045" y="4191000"/>
                    <a:pt x="9611895" y="4191000"/>
                  </a:cubicBezTo>
                  <a:lnTo>
                    <a:pt x="40105" y="4191000"/>
                  </a:lnTo>
                  <a:cubicBezTo>
                    <a:pt x="17956" y="4191000"/>
                    <a:pt x="0" y="4173044"/>
                    <a:pt x="0" y="4150895"/>
                  </a:cubicBezTo>
                  <a:lnTo>
                    <a:pt x="0" y="40105"/>
                  </a:lnTo>
                  <a:cubicBezTo>
                    <a:pt x="0" y="17956"/>
                    <a:pt x="17956" y="0"/>
                    <a:pt x="40105" y="0"/>
                  </a:cubicBezTo>
                  <a:close/>
                </a:path>
              </a:pathLst>
            </a:custGeom>
            <a:solidFill>
              <a:srgbClr val="0F172A"/>
            </a:solidFill>
            <a:ln w="28575" cap="rnd">
              <a:solidFill>
                <a:srgbClr val="64748B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9652000" cy="421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25000" y="5524500"/>
            <a:ext cx="7239000" cy="3143250"/>
            <a:chOff x="0" y="0"/>
            <a:chExt cx="9652000" cy="4191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652000" cy="4191000"/>
            </a:xfrm>
            <a:custGeom>
              <a:avLst/>
              <a:gdLst/>
              <a:ahLst/>
              <a:cxnLst/>
              <a:rect l="l" t="t" r="r" b="b"/>
              <a:pathLst>
                <a:path w="9652000" h="4191000">
                  <a:moveTo>
                    <a:pt x="40105" y="0"/>
                  </a:moveTo>
                  <a:lnTo>
                    <a:pt x="9611895" y="0"/>
                  </a:lnTo>
                  <a:cubicBezTo>
                    <a:pt x="9634045" y="0"/>
                    <a:pt x="9652000" y="17956"/>
                    <a:pt x="9652000" y="40105"/>
                  </a:cubicBezTo>
                  <a:lnTo>
                    <a:pt x="9652000" y="4150895"/>
                  </a:lnTo>
                  <a:cubicBezTo>
                    <a:pt x="9652000" y="4173044"/>
                    <a:pt x="9634045" y="4191000"/>
                    <a:pt x="9611895" y="4191000"/>
                  </a:cubicBezTo>
                  <a:lnTo>
                    <a:pt x="40105" y="4191000"/>
                  </a:lnTo>
                  <a:cubicBezTo>
                    <a:pt x="17956" y="4191000"/>
                    <a:pt x="0" y="4173044"/>
                    <a:pt x="0" y="4150895"/>
                  </a:cubicBezTo>
                  <a:lnTo>
                    <a:pt x="0" y="40105"/>
                  </a:lnTo>
                  <a:cubicBezTo>
                    <a:pt x="0" y="17956"/>
                    <a:pt x="17956" y="0"/>
                    <a:pt x="40105" y="0"/>
                  </a:cubicBezTo>
                  <a:close/>
                </a:path>
              </a:pathLst>
            </a:custGeom>
            <a:solidFill>
              <a:srgbClr val="0F172A"/>
            </a:solidFill>
            <a:ln w="28575" cap="rnd">
              <a:solidFill>
                <a:srgbClr val="22D3EE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9652000" cy="421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905000" y="5743575"/>
            <a:ext cx="647700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94A3B8"/>
                </a:solidFill>
                <a:latin typeface="Poppins Bold"/>
                <a:ea typeface="Poppins Bold"/>
                <a:cs typeface="Poppins Bold"/>
                <a:sym typeface="Poppins Bold"/>
              </a:rPr>
              <a:t>Recent turns only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05000" y="6372225"/>
            <a:ext cx="647700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“The conversation does not mention a charity race.”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05000" y="7877175"/>
            <a:ext cx="6477000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F87171"/>
                </a:solidFill>
                <a:latin typeface="Poppins Bold"/>
                <a:ea typeface="Poppins Bold"/>
                <a:cs typeface="Poppins Bold"/>
                <a:sym typeface="Poppins Bold"/>
              </a:rPr>
              <a:t>✗  Wrong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906000" y="5743575"/>
            <a:ext cx="6477000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Retrieval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906000" y="6343650"/>
            <a:ext cx="64770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“mental health”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906000" y="7877175"/>
            <a:ext cx="6477000" cy="48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4ADE80"/>
                </a:solidFill>
                <a:latin typeface="Poppins Bold"/>
                <a:ea typeface="Poppins Bold"/>
                <a:cs typeface="Poppins Bold"/>
                <a:sym typeface="Poppins Bold"/>
              </a:rPr>
              <a:t>✓  Correct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524000" y="9382125"/>
            <a:ext cx="1524000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LoCoMo conv-26  ·  Gemma 4 E2B  ·  Galaxy S23 Ultra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5000" y="6477000"/>
            <a:ext cx="14478000" cy="2571750"/>
            <a:chOff x="0" y="0"/>
            <a:chExt cx="19304000" cy="3429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304000" cy="3429000"/>
            </a:xfrm>
            <a:custGeom>
              <a:avLst/>
              <a:gdLst/>
              <a:ahLst/>
              <a:cxnLst/>
              <a:rect l="l" t="t" r="r" b="b"/>
              <a:pathLst>
                <a:path w="19304000" h="3429000">
                  <a:moveTo>
                    <a:pt x="20053" y="0"/>
                  </a:moveTo>
                  <a:lnTo>
                    <a:pt x="19283947" y="0"/>
                  </a:lnTo>
                  <a:cubicBezTo>
                    <a:pt x="19295022" y="0"/>
                    <a:pt x="19304000" y="8978"/>
                    <a:pt x="19304000" y="20053"/>
                  </a:cubicBezTo>
                  <a:lnTo>
                    <a:pt x="19304000" y="3408947"/>
                  </a:lnTo>
                  <a:cubicBezTo>
                    <a:pt x="19304000" y="3420022"/>
                    <a:pt x="19295022" y="3429000"/>
                    <a:pt x="19283947" y="3429000"/>
                  </a:cubicBezTo>
                  <a:lnTo>
                    <a:pt x="20053" y="3429000"/>
                  </a:lnTo>
                  <a:cubicBezTo>
                    <a:pt x="8978" y="3429000"/>
                    <a:pt x="0" y="3420022"/>
                    <a:pt x="0" y="3408947"/>
                  </a:cubicBezTo>
                  <a:lnTo>
                    <a:pt x="0" y="20053"/>
                  </a:lnTo>
                  <a:cubicBezTo>
                    <a:pt x="0" y="8978"/>
                    <a:pt x="8978" y="0"/>
                    <a:pt x="20053" y="0"/>
                  </a:cubicBezTo>
                  <a:close/>
                </a:path>
              </a:pathLst>
            </a:custGeom>
            <a:solidFill>
              <a:srgbClr val="1E293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9304000" cy="3467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62000" y="4200525"/>
            <a:ext cx="1676400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5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Memory systems are usually evaluated on servers, in accuracy and tokens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" y="4914900"/>
            <a:ext cx="16764000" cy="744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655"/>
              </a:lnSpc>
              <a:spcBef>
                <a:spcPct val="0"/>
              </a:spcBef>
            </a:pPr>
            <a:r>
              <a:rPr lang="en-US" sz="4350" b="1" u="none" strike="noStrike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What they cost on the phone itself is rarely measured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76500" y="6753225"/>
            <a:ext cx="13335000" cy="1945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2"/>
              </a:lnSpc>
            </a:pPr>
            <a:r>
              <a:rPr lang="en-US" sz="40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How can a small model on a phone remember a long history, within the phone's resources, and still answer correctly?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809750" y="904875"/>
            <a:ext cx="57150" cy="2190750"/>
            <a:chOff x="0" y="0"/>
            <a:chExt cx="76200" cy="2921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00" cy="2921000"/>
            </a:xfrm>
            <a:custGeom>
              <a:avLst/>
              <a:gdLst/>
              <a:ahLst/>
              <a:cxnLst/>
              <a:rect l="l" t="t" r="r" b="b"/>
              <a:pathLst>
                <a:path w="76200" h="2921000">
                  <a:moveTo>
                    <a:pt x="0" y="0"/>
                  </a:moveTo>
                  <a:lnTo>
                    <a:pt x="76200" y="0"/>
                  </a:lnTo>
                  <a:lnTo>
                    <a:pt x="762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22D3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6200" cy="2959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190750" y="876300"/>
            <a:ext cx="14287500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1">
                <a:solidFill>
                  <a:srgbClr val="E2E8F0"/>
                </a:solidFill>
                <a:latin typeface="Arimo Italics"/>
                <a:ea typeface="Arimo Italics"/>
                <a:cs typeface="Arimo Italics"/>
                <a:sym typeface="Arimo Italics"/>
              </a:rPr>
              <a:t>“One of the most critical steps towards useful personal and professional agents is reliable memory. Models need to remember what matters and recognize when earlier information becomes relevant.”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90750" y="2609850"/>
            <a:ext cx="1428750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1">
                <a:solidFill>
                  <a:srgbClr val="22D3EE"/>
                </a:solidFill>
                <a:latin typeface="Arimo Bold"/>
                <a:ea typeface="Arimo Bold"/>
                <a:cs typeface="Arimo Bold"/>
                <a:sym typeface="Arimo Bold"/>
              </a:rPr>
              <a:t>Meta AI, Muse Wonder (October 2026)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5750" y="9772650"/>
            <a:ext cx="1771650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lang="en-US" sz="1650" i="1">
                <a:solidFill>
                  <a:srgbClr val="94A3B8"/>
                </a:solidFill>
                <a:latin typeface="Arimo Italics"/>
                <a:ea typeface="Arimo Italics"/>
                <a:cs typeface="Arimo Italics"/>
                <a:sym typeface="Arimo Italics"/>
              </a:rPr>
              <a:t>Source: Meta AI, “Muse Wonder: A Frontier Model For Personal &amp; Professional AI Agents”, research.meta.ai/blog/muse-wonder, 12 Oct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5730"/>
            <a:ext cx="1623060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Research questions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24000" y="2563178"/>
            <a:ext cx="171450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RQ1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29000" y="2487930"/>
            <a:ext cx="13335000" cy="103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How do different long-term memory strategies affect the question-answering performance of small language models?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24000" y="4944428"/>
            <a:ext cx="171450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RQ2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29000" y="4612005"/>
            <a:ext cx="13335000" cy="155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trade-offs between answer quality and resource consumption arise when deploying long-term memory strategies on smartphones?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24000" y="7325678"/>
            <a:ext cx="1714500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RQ3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29000" y="6993255"/>
            <a:ext cx="13335000" cy="155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1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are the capabilities and limitations of knowledge-graph-based memory for small language models under constrained context and resource budgets?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524000" y="4220528"/>
            <a:ext cx="152400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524000" y="6806089"/>
            <a:ext cx="152400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524000" y="9239250"/>
            <a:ext cx="152400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524000" y="2097405"/>
            <a:ext cx="152400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18821" y="2649481"/>
            <a:ext cx="1171691" cy="1054522"/>
          </a:xfrm>
          <a:custGeom>
            <a:avLst/>
            <a:gdLst/>
            <a:ahLst/>
            <a:cxnLst/>
            <a:rect l="l" t="t" r="r" b="b"/>
            <a:pathLst>
              <a:path w="1171691" h="1054522">
                <a:moveTo>
                  <a:pt x="0" y="0"/>
                </a:moveTo>
                <a:lnTo>
                  <a:pt x="1171691" y="0"/>
                </a:lnTo>
                <a:lnTo>
                  <a:pt x="1171691" y="1054521"/>
                </a:lnTo>
                <a:lnTo>
                  <a:pt x="0" y="10545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81334" y="2842182"/>
            <a:ext cx="925124" cy="925124"/>
          </a:xfrm>
          <a:custGeom>
            <a:avLst/>
            <a:gdLst/>
            <a:ahLst/>
            <a:cxnLst/>
            <a:rect l="l" t="t" r="r" b="b"/>
            <a:pathLst>
              <a:path w="925124" h="925124">
                <a:moveTo>
                  <a:pt x="0" y="0"/>
                </a:moveTo>
                <a:lnTo>
                  <a:pt x="925123" y="0"/>
                </a:lnTo>
                <a:lnTo>
                  <a:pt x="925123" y="925124"/>
                </a:lnTo>
                <a:lnTo>
                  <a:pt x="0" y="9251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6690411" y="2753639"/>
            <a:ext cx="984231" cy="1042938"/>
          </a:xfrm>
          <a:custGeom>
            <a:avLst/>
            <a:gdLst/>
            <a:ahLst/>
            <a:cxnLst/>
            <a:rect l="l" t="t" r="r" b="b"/>
            <a:pathLst>
              <a:path w="984231" h="1042938">
                <a:moveTo>
                  <a:pt x="0" y="0"/>
                </a:moveTo>
                <a:lnTo>
                  <a:pt x="984230" y="0"/>
                </a:lnTo>
                <a:lnTo>
                  <a:pt x="984230" y="1042939"/>
                </a:lnTo>
                <a:lnTo>
                  <a:pt x="0" y="10429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63" r="-8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82360" y="104775"/>
            <a:ext cx="1692328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How should an on-device agent remember?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4155" y="2687891"/>
            <a:ext cx="2573561" cy="548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305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Recent turns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34155" y="3318618"/>
            <a:ext cx="3179704" cy="40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6"/>
              </a:lnSpc>
            </a:pPr>
            <a:r>
              <a:rPr lang="en-US" sz="2247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full context, truncated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90561" y="2648864"/>
            <a:ext cx="3707029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Vector Retrieval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90561" y="3248939"/>
            <a:ext cx="3707029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Retrieve relevant memories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80896" y="2554231"/>
            <a:ext cx="3714750" cy="457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1"/>
              </a:lnSpc>
            </a:pPr>
            <a:r>
              <a:rPr lang="en-US" sz="257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Knowledge Graph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80896" y="3087631"/>
            <a:ext cx="3714750" cy="67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3"/>
              </a:lnSpc>
            </a:pPr>
            <a:r>
              <a:rPr lang="en-US" sz="1895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Structured facts, extracted locally by the SLM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63103" y="8440417"/>
            <a:ext cx="3914180" cy="69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Answer Quality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83807" y="8440417"/>
            <a:ext cx="3870027" cy="69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 Device Cost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59346" y="6142430"/>
            <a:ext cx="6369308" cy="695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Evaluate them based 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9650" y="107560"/>
            <a:ext cx="1623060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Models Stack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23905" y="3709781"/>
            <a:ext cx="2875812" cy="125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2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Gemma 4 E2B Gemma 4 E4B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7750" y="8765333"/>
            <a:ext cx="16192500" cy="107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35"/>
              </a:lnSpc>
              <a:spcBef>
                <a:spcPct val="0"/>
              </a:spcBef>
            </a:pPr>
            <a:r>
              <a:rPr lang="en-US" sz="2025" i="1" u="none" strike="noStrike">
                <a:solidFill>
                  <a:srgbClr val="CBD5E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All readers and the judge are 4-bit (Q4_K_M)</a:t>
            </a:r>
          </a:p>
          <a:p>
            <a:pPr marL="0" lvl="0" indent="0" algn="ctr">
              <a:lnSpc>
                <a:spcPts val="2835"/>
              </a:lnSpc>
              <a:spcBef>
                <a:spcPct val="0"/>
              </a:spcBef>
            </a:pPr>
            <a:r>
              <a:rPr lang="en-US" sz="2025" i="1" u="none" strike="noStrike">
                <a:solidFill>
                  <a:srgbClr val="CBD5E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Phone readers: GGUF from huggingface.co/unsloth · phone embedder: huggingface.co/nomic-ai</a:t>
            </a:r>
          </a:p>
          <a:p>
            <a:pPr marL="0" lvl="0" indent="0" algn="ctr">
              <a:lnSpc>
                <a:spcPts val="2835"/>
              </a:lnSpc>
              <a:spcBef>
                <a:spcPct val="0"/>
              </a:spcBef>
            </a:pPr>
            <a:r>
              <a:rPr lang="en-US" sz="2025" i="1" u="none" strike="noStrike">
                <a:solidFill>
                  <a:srgbClr val="CBD5E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Server-side models: ollama.com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99717" y="7088933"/>
            <a:ext cx="648856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Judging Model →  </a:t>
            </a: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Llama 3.1 70B Instruct</a:t>
            </a:r>
          </a:p>
        </p:txBody>
      </p:sp>
      <p:sp>
        <p:nvSpPr>
          <p:cNvPr id="6" name="Freeform 6"/>
          <p:cNvSpPr/>
          <p:nvPr/>
        </p:nvSpPr>
        <p:spPr>
          <a:xfrm>
            <a:off x="1504363" y="1307710"/>
            <a:ext cx="5851124" cy="2592571"/>
          </a:xfrm>
          <a:custGeom>
            <a:avLst/>
            <a:gdLst/>
            <a:ahLst/>
            <a:cxnLst/>
            <a:rect l="l" t="t" r="r" b="b"/>
            <a:pathLst>
              <a:path w="5851124" h="2592571">
                <a:moveTo>
                  <a:pt x="0" y="0"/>
                </a:moveTo>
                <a:lnTo>
                  <a:pt x="5851124" y="0"/>
                </a:lnTo>
                <a:lnTo>
                  <a:pt x="5851124" y="2592571"/>
                </a:lnTo>
                <a:lnTo>
                  <a:pt x="0" y="2592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1162171" y="1902591"/>
            <a:ext cx="4762300" cy="1402808"/>
          </a:xfrm>
          <a:custGeom>
            <a:avLst/>
            <a:gdLst/>
            <a:ahLst/>
            <a:cxnLst/>
            <a:rect l="l" t="t" r="r" b="b"/>
            <a:pathLst>
              <a:path w="4762300" h="1402808">
                <a:moveTo>
                  <a:pt x="0" y="0"/>
                </a:moveTo>
                <a:lnTo>
                  <a:pt x="4762300" y="0"/>
                </a:lnTo>
                <a:lnTo>
                  <a:pt x="4762300" y="1402808"/>
                </a:lnTo>
                <a:lnTo>
                  <a:pt x="0" y="1402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1388313" y="3390694"/>
            <a:ext cx="4536158" cy="189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2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Qwen3.5 0.8B</a:t>
            </a:r>
          </a:p>
          <a:p>
            <a:pPr algn="ctr">
              <a:lnSpc>
                <a:spcPts val="5040"/>
              </a:lnSpc>
            </a:pPr>
            <a:r>
              <a:rPr lang="en-US" sz="2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Qwen3.5 2B</a:t>
            </a:r>
          </a:p>
          <a:p>
            <a:pPr algn="ctr">
              <a:lnSpc>
                <a:spcPts val="5040"/>
              </a:lnSpc>
            </a:pPr>
            <a:r>
              <a:rPr lang="en-US" sz="2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Qwen3.5 4B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93681" y="6187233"/>
            <a:ext cx="7300639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Embeddings Model → </a:t>
            </a: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Nomic Embed Text v1.5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4775"/>
            <a:ext cx="1623060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00"/>
              </a:lnSpc>
              <a:spcBef>
                <a:spcPct val="0"/>
              </a:spcBef>
            </a:pPr>
            <a:r>
              <a:rPr lang="en-US" sz="6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Setup: one phone, one workstation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60302" y="7335724"/>
            <a:ext cx="4011066" cy="258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30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12 GB RAM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30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Snapdragon 8 Gen 2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30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3.36 GHz Cortex-X3</a:t>
            </a:r>
          </a:p>
          <a:p>
            <a:pPr algn="ctr">
              <a:lnSpc>
                <a:spcPts val="4050"/>
              </a:lnSpc>
              <a:spcBef>
                <a:spcPct val="0"/>
              </a:spcBef>
            </a:pPr>
            <a:r>
              <a:rPr lang="en-US" sz="30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5,000 </a:t>
            </a:r>
            <a:r>
              <a:rPr lang="en-US" sz="3000" u="none" strike="noStrik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mAh</a:t>
            </a:r>
            <a:endParaRPr lang="en-US" sz="3000" u="none" strike="noStrik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1" indent="0" algn="ctr">
              <a:lnSpc>
                <a:spcPts val="4050"/>
              </a:lnSpc>
              <a:spcBef>
                <a:spcPct val="0"/>
              </a:spcBef>
            </a:pPr>
            <a:r>
              <a:rPr lang="en-US" sz="3000" u="none" strike="noStrik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llama.cpp in </a:t>
            </a:r>
            <a:r>
              <a:rPr lang="en-US" sz="3000" u="none" strike="noStrik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Termux</a:t>
            </a:r>
            <a:endParaRPr lang="en-US" sz="3000" u="none" strike="noStrik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2654841" y="2681073"/>
            <a:ext cx="4416526" cy="4416526"/>
          </a:xfrm>
          <a:custGeom>
            <a:avLst/>
            <a:gdLst/>
            <a:ahLst/>
            <a:cxnLst/>
            <a:rect l="l" t="t" r="r" b="b"/>
            <a:pathLst>
              <a:path w="4416526" h="4416526">
                <a:moveTo>
                  <a:pt x="0" y="0"/>
                </a:moveTo>
                <a:lnTo>
                  <a:pt x="4416526" y="0"/>
                </a:lnTo>
                <a:lnTo>
                  <a:pt x="4416526" y="4416526"/>
                </a:lnTo>
                <a:lnTo>
                  <a:pt x="0" y="44165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911878" y="3164698"/>
            <a:ext cx="4319843" cy="3736665"/>
          </a:xfrm>
          <a:custGeom>
            <a:avLst/>
            <a:gdLst/>
            <a:ahLst/>
            <a:cxnLst/>
            <a:rect l="l" t="t" r="r" b="b"/>
            <a:pathLst>
              <a:path w="4319843" h="3736665">
                <a:moveTo>
                  <a:pt x="0" y="0"/>
                </a:moveTo>
                <a:lnTo>
                  <a:pt x="4319843" y="0"/>
                </a:lnTo>
                <a:lnTo>
                  <a:pt x="4319843" y="3736664"/>
                </a:lnTo>
                <a:lnTo>
                  <a:pt x="0" y="37366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2685232" y="1791571"/>
            <a:ext cx="2773136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Workstation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57185" y="1755516"/>
            <a:ext cx="5811838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5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Samsung Galaxy S23 Ultra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20663" y="7202374"/>
            <a:ext cx="3957537" cy="27146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Same Memory Code</a:t>
            </a:r>
          </a:p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More Questions </a:t>
            </a:r>
          </a:p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Second Benchmark</a:t>
            </a:r>
          </a:p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Judging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04775"/>
            <a:ext cx="16230600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00"/>
              </a:lnSpc>
              <a:spcBef>
                <a:spcPct val="0"/>
              </a:spcBef>
            </a:pPr>
            <a:r>
              <a:rPr lang="en-US" sz="6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Benchmarks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9861" y="3752850"/>
            <a:ext cx="7464139" cy="4552437"/>
            <a:chOff x="0" y="0"/>
            <a:chExt cx="9652000" cy="58868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52000" cy="5886831"/>
            </a:xfrm>
            <a:custGeom>
              <a:avLst/>
              <a:gdLst/>
              <a:ahLst/>
              <a:cxnLst/>
              <a:rect l="l" t="t" r="r" b="b"/>
              <a:pathLst>
                <a:path w="9652000" h="5886831">
                  <a:moveTo>
                    <a:pt x="38896" y="0"/>
                  </a:moveTo>
                  <a:lnTo>
                    <a:pt x="9613105" y="0"/>
                  </a:lnTo>
                  <a:cubicBezTo>
                    <a:pt x="9634586" y="0"/>
                    <a:pt x="9652000" y="17414"/>
                    <a:pt x="9652000" y="38896"/>
                  </a:cubicBezTo>
                  <a:lnTo>
                    <a:pt x="9652000" y="5847935"/>
                  </a:lnTo>
                  <a:cubicBezTo>
                    <a:pt x="9652000" y="5869417"/>
                    <a:pt x="9634586" y="5886831"/>
                    <a:pt x="9613105" y="5886831"/>
                  </a:cubicBezTo>
                  <a:lnTo>
                    <a:pt x="38896" y="5886831"/>
                  </a:lnTo>
                  <a:cubicBezTo>
                    <a:pt x="28580" y="5886831"/>
                    <a:pt x="18687" y="5882733"/>
                    <a:pt x="11392" y="5875438"/>
                  </a:cubicBezTo>
                  <a:cubicBezTo>
                    <a:pt x="4098" y="5868144"/>
                    <a:pt x="0" y="5858251"/>
                    <a:pt x="0" y="5847935"/>
                  </a:cubicBezTo>
                  <a:lnTo>
                    <a:pt x="0" y="38896"/>
                  </a:lnTo>
                  <a:cubicBezTo>
                    <a:pt x="0" y="17414"/>
                    <a:pt x="17414" y="0"/>
                    <a:pt x="38896" y="0"/>
                  </a:cubicBezTo>
                  <a:close/>
                </a:path>
              </a:pathLst>
            </a:custGeom>
            <a:solidFill>
              <a:srgbClr val="0F172A"/>
            </a:solidFill>
            <a:ln w="28575" cap="rnd">
              <a:solidFill>
                <a:srgbClr val="22D3EE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9652000" cy="5915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25000" y="3752850"/>
            <a:ext cx="7239000" cy="4552437"/>
            <a:chOff x="0" y="0"/>
            <a:chExt cx="9652000" cy="60699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52000" cy="6069916"/>
            </a:xfrm>
            <a:custGeom>
              <a:avLst/>
              <a:gdLst/>
              <a:ahLst/>
              <a:cxnLst/>
              <a:rect l="l" t="t" r="r" b="b"/>
              <a:pathLst>
                <a:path w="9652000" h="6069916">
                  <a:moveTo>
                    <a:pt x="40105" y="0"/>
                  </a:moveTo>
                  <a:lnTo>
                    <a:pt x="9611895" y="0"/>
                  </a:lnTo>
                  <a:cubicBezTo>
                    <a:pt x="9634045" y="0"/>
                    <a:pt x="9652000" y="17956"/>
                    <a:pt x="9652000" y="40105"/>
                  </a:cubicBezTo>
                  <a:lnTo>
                    <a:pt x="9652000" y="6029811"/>
                  </a:lnTo>
                  <a:cubicBezTo>
                    <a:pt x="9652000" y="6051960"/>
                    <a:pt x="9634045" y="6069916"/>
                    <a:pt x="9611895" y="6069916"/>
                  </a:cubicBezTo>
                  <a:lnTo>
                    <a:pt x="40105" y="6069916"/>
                  </a:lnTo>
                  <a:cubicBezTo>
                    <a:pt x="17956" y="6069916"/>
                    <a:pt x="0" y="6051960"/>
                    <a:pt x="0" y="6029811"/>
                  </a:cubicBezTo>
                  <a:lnTo>
                    <a:pt x="0" y="40105"/>
                  </a:lnTo>
                  <a:cubicBezTo>
                    <a:pt x="0" y="17956"/>
                    <a:pt x="17956" y="0"/>
                    <a:pt x="40105" y="0"/>
                  </a:cubicBezTo>
                  <a:close/>
                </a:path>
              </a:pathLst>
            </a:custGeom>
            <a:solidFill>
              <a:srgbClr val="0F172A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9652000" cy="6098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221055" y="3966827"/>
            <a:ext cx="638175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LoCoMo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48291" y="4725949"/>
            <a:ext cx="6927279" cy="334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 long conversations </a:t>
            </a:r>
          </a:p>
          <a:p>
            <a:pPr algn="ctr">
              <a:lnSpc>
                <a:spcPts val="2990"/>
              </a:lnSpc>
            </a:pPr>
            <a:endParaRPr lang="en-US" sz="2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99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369–689 turns per history</a:t>
            </a:r>
          </a:p>
          <a:p>
            <a:pPr algn="ctr">
              <a:lnSpc>
                <a:spcPts val="2990"/>
              </a:lnSpc>
            </a:pPr>
            <a:endParaRPr lang="en-US" sz="2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99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~16K-17K tokens</a:t>
            </a:r>
          </a:p>
          <a:p>
            <a:pPr algn="ctr">
              <a:lnSpc>
                <a:spcPts val="2990"/>
              </a:lnSpc>
            </a:pPr>
            <a:endParaRPr lang="en-US" sz="2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99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 question types</a:t>
            </a:r>
          </a:p>
          <a:p>
            <a:pPr algn="ctr">
              <a:lnSpc>
                <a:spcPts val="2990"/>
              </a:lnSpc>
            </a:pPr>
            <a:endParaRPr lang="en-US" sz="2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99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Both on phone/workstation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53625" y="3966827"/>
            <a:ext cx="638175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LongMemEval-S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53625" y="4725949"/>
            <a:ext cx="6381750" cy="334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60 questions </a:t>
            </a:r>
          </a:p>
          <a:p>
            <a:pPr algn="ctr">
              <a:lnSpc>
                <a:spcPts val="2990"/>
              </a:lnSpc>
            </a:pPr>
            <a:endParaRPr lang="en-US" sz="2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99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~491 turns per history</a:t>
            </a:r>
          </a:p>
          <a:p>
            <a:pPr algn="ctr">
              <a:lnSpc>
                <a:spcPts val="2990"/>
              </a:lnSpc>
            </a:pPr>
            <a:endParaRPr lang="en-US" sz="2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99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~115K tokens</a:t>
            </a:r>
          </a:p>
          <a:p>
            <a:pPr algn="ctr">
              <a:lnSpc>
                <a:spcPts val="2990"/>
              </a:lnSpc>
            </a:pPr>
            <a:endParaRPr lang="en-US" sz="2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99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 question types</a:t>
            </a:r>
          </a:p>
          <a:p>
            <a:pPr algn="ctr">
              <a:lnSpc>
                <a:spcPts val="2990"/>
              </a:lnSpc>
            </a:pPr>
            <a:endParaRPr lang="en-US" sz="23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99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Workstation only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84199" y="1857375"/>
            <a:ext cx="12919602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Two established benchmarks for long-term conversational memory</a:t>
            </a:r>
          </a:p>
          <a:p>
            <a:pPr marL="0" lvl="0" indent="0" algn="ctr">
              <a:lnSpc>
                <a:spcPts val="39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Scored by a 70B judge + human audit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17864" y="9133962"/>
            <a:ext cx="10052272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Phone accuracy is measured on the phone and not from the workstation.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LoCoMo accuracy by memory strategy for five readers"/>
          <p:cNvSpPr/>
          <p:nvPr/>
        </p:nvSpPr>
        <p:spPr>
          <a:xfrm>
            <a:off x="1714500" y="1333500"/>
            <a:ext cx="14859000" cy="6305550"/>
          </a:xfrm>
          <a:custGeom>
            <a:avLst/>
            <a:gdLst/>
            <a:ahLst/>
            <a:cxnLst/>
            <a:rect l="l" t="t" r="r" b="b"/>
            <a:pathLst>
              <a:path w="14859000" h="6305550">
                <a:moveTo>
                  <a:pt x="0" y="0"/>
                </a:moveTo>
                <a:lnTo>
                  <a:pt x="14859000" y="0"/>
                </a:lnTo>
                <a:lnTo>
                  <a:pt x="14859000" y="6305550"/>
                </a:lnTo>
                <a:lnTo>
                  <a:pt x="0" y="6305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" r="-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90500"/>
            <a:ext cx="16230600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00"/>
              </a:lnSpc>
              <a:spcBef>
                <a:spcPct val="0"/>
              </a:spcBef>
            </a:pPr>
            <a:r>
              <a:rPr lang="en-US" sz="5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RQ1 · Which memory answers correctly?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7924800"/>
            <a:ext cx="16230600" cy="651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Vector retrieval: highest accuracy estimate for all 5 models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866505"/>
            <a:ext cx="16230600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79"/>
              </a:lnSpc>
              <a:spcBef>
                <a:spcPct val="0"/>
              </a:spcBef>
            </a:pPr>
            <a:r>
              <a:rPr lang="en-US" sz="21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Gemma 4 E2B: full context (4,096-token window) 7.5% · graph facts 21.5% · graph + sources 33.0% · vector 36.0%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572625"/>
            <a:ext cx="162306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LoCoMo · 200 questions per cell · workstation · 70B judge · GraphRAG v3 = graph facts, v4 = graph + source text</a:t>
            </a:r>
          </a:p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Similar findings with larger readers: Han et al. (2026, KDD) · Qian et al. (2025, MemoRAG, WWW) · Jia et al. (2025, TMLR)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Accuracy and evidence recall versus retrieval depth for Gemma E2B and E4B"/>
          <p:cNvSpPr/>
          <p:nvPr/>
        </p:nvSpPr>
        <p:spPr>
          <a:xfrm>
            <a:off x="571500" y="1638300"/>
            <a:ext cx="12153900" cy="7620000"/>
          </a:xfrm>
          <a:custGeom>
            <a:avLst/>
            <a:gdLst/>
            <a:ahLst/>
            <a:cxnLst/>
            <a:rect l="l" t="t" r="r" b="b"/>
            <a:pathLst>
              <a:path w="12153900" h="7620000">
                <a:moveTo>
                  <a:pt x="0" y="0"/>
                </a:moveTo>
                <a:lnTo>
                  <a:pt x="12153900" y="0"/>
                </a:lnTo>
                <a:lnTo>
                  <a:pt x="12153900" y="7620000"/>
                </a:lnTo>
                <a:lnTo>
                  <a:pt x="0" y="7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" b="-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30810"/>
            <a:ext cx="16230600" cy="121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en-US" sz="42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RQ1 · Over the tested ranges, depth moved accuracy more than model size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254488" y="2363629"/>
            <a:ext cx="4667250" cy="94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+15 to +27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254488" y="3373279"/>
            <a:ext cx="4667250" cy="1113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points from retrieving more turns (k = 2 → 50), across all 5 models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54488" y="5316379"/>
            <a:ext cx="4667250" cy="94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+4.5 / +6.5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54488" y="6326029"/>
            <a:ext cx="4667250" cy="742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points from doubling the parameters (Gemma / Qwen)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54488" y="7671053"/>
            <a:ext cx="4667250" cy="1372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62"/>
              </a:lnSpc>
              <a:spcBef>
                <a:spcPct val="0"/>
              </a:spcBef>
            </a:pPr>
            <a:r>
              <a:rPr lang="en-US" sz="2850" b="1" u="none" strike="noStrike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More evidence helps, but the prompt grows: 296 → 3,310 tokens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9646314"/>
            <a:ext cx="16230600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10"/>
              </a:lnSpc>
              <a:spcBef>
                <a:spcPct val="0"/>
              </a:spcBef>
            </a:pPr>
            <a:r>
              <a:rPr lang="en-US" sz="1650" u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LoCoMo · depth sweep on a 100-question subset · workstation · size gains from the 200-question grid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LongMemEval-S accuracy by strategy and question type for Gemma E2B and E4B"/>
          <p:cNvSpPr/>
          <p:nvPr/>
        </p:nvSpPr>
        <p:spPr>
          <a:xfrm>
            <a:off x="1524000" y="1143000"/>
            <a:ext cx="15240000" cy="6924675"/>
          </a:xfrm>
          <a:custGeom>
            <a:avLst/>
            <a:gdLst/>
            <a:ahLst/>
            <a:cxnLst/>
            <a:rect l="l" t="t" r="r" b="b"/>
            <a:pathLst>
              <a:path w="15240000" h="6924675">
                <a:moveTo>
                  <a:pt x="0" y="0"/>
                </a:moveTo>
                <a:lnTo>
                  <a:pt x="15240000" y="0"/>
                </a:lnTo>
                <a:lnTo>
                  <a:pt x="15240000" y="6924675"/>
                </a:lnTo>
                <a:lnTo>
                  <a:pt x="0" y="69246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" r="-6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00025"/>
            <a:ext cx="16230600" cy="7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99"/>
              </a:lnSpc>
              <a:spcBef>
                <a:spcPct val="0"/>
              </a:spcBef>
            </a:pPr>
            <a:r>
              <a:rPr lang="en-US" sz="49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RQ1 · What about LongMemEval-S?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199438"/>
            <a:ext cx="16230600" cy="61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45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LongMemEval-S: vector highest, full context lowest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986520"/>
            <a:ext cx="16230600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Gemma E2B / E4B:   vector 48.3 / 56.7%   ·   graph + sources 41.7 / 33.3%   ·   full context 10.0 / 5.0%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17418" y="9566275"/>
            <a:ext cx="7653164" cy="57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10"/>
              </a:lnSpc>
              <a:spcBef>
                <a:spcPct val="0"/>
              </a:spcBef>
            </a:pPr>
            <a:r>
              <a:rPr lang="en-US" sz="1650" u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LongMemEval-S · 60 questions (10 per type) · workstation · 70B judge</a:t>
            </a:r>
          </a:p>
          <a:p>
            <a:pPr marL="0" lvl="0" indent="0" algn="ctr">
              <a:lnSpc>
                <a:spcPts val="2310"/>
              </a:lnSpc>
              <a:spcBef>
                <a:spcPct val="0"/>
              </a:spcBef>
            </a:pPr>
            <a:r>
              <a:rPr lang="en-US" sz="1650" u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Consistent with the LongMemEval-S comparison in Jia et al. (2025, TMLR)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49250"/>
            <a:ext cx="16230600" cy="60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99"/>
              </a:lnSpc>
              <a:spcBef>
                <a:spcPct val="0"/>
              </a:spcBef>
            </a:pPr>
            <a:r>
              <a:rPr lang="en-US" sz="39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Whole history: full context catches up, at many times the tokens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8850630"/>
            <a:ext cx="16764000" cy="407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20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whole history costs about 39–48× the prompt tokens of vector retrieval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2000" y="8220437"/>
            <a:ext cx="16764000" cy="42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17"/>
              </a:lnSpc>
              <a:spcBef>
                <a:spcPct val="0"/>
              </a:spcBef>
            </a:pPr>
            <a:r>
              <a:rPr lang="en-US" sz="2475" b="1" u="none" strike="noStrike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LoCoMo: long window 44.0% vs vector 36.0% (E2B) · LongMemEval-S: vector ≈8 pts ahead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" y="9591675"/>
            <a:ext cx="16764000" cy="27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45"/>
              </a:lnSpc>
              <a:spcBef>
                <a:spcPct val="0"/>
              </a:spcBef>
            </a:pPr>
            <a:r>
              <a:rPr lang="en-US" sz="1650" u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Workstation · 70B judge · Gemma 4 shown (Qwen 4B: 41.5 vs 39.0, 45.0 vs 50.0)</a:t>
            </a:r>
          </a:p>
        </p:txBody>
      </p:sp>
      <p:sp>
        <p:nvSpPr>
          <p:cNvPr id="6" name="Freeform 6" descr="Accuracy against mean prompt tokens for Gemma E2B and E4B on LoCoMo and LongMemEval-S, truncated and long-window full context, each point tagged with its reader"/>
          <p:cNvSpPr/>
          <p:nvPr/>
        </p:nvSpPr>
        <p:spPr>
          <a:xfrm>
            <a:off x="1684176" y="1321521"/>
            <a:ext cx="15404575" cy="6289834"/>
          </a:xfrm>
          <a:custGeom>
            <a:avLst/>
            <a:gdLst/>
            <a:ahLst/>
            <a:cxnLst/>
            <a:rect l="l" t="t" r="r" b="b"/>
            <a:pathLst>
              <a:path w="15404575" h="6289834">
                <a:moveTo>
                  <a:pt x="0" y="0"/>
                </a:moveTo>
                <a:lnTo>
                  <a:pt x="15404575" y="0"/>
                </a:lnTo>
                <a:lnTo>
                  <a:pt x="15404575" y="6289834"/>
                </a:lnTo>
                <a:lnTo>
                  <a:pt x="0" y="62898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Correct answers per kilojoule and joules per answer on the Galaxy S23 Ultra for five readers"/>
          <p:cNvSpPr/>
          <p:nvPr/>
        </p:nvSpPr>
        <p:spPr>
          <a:xfrm>
            <a:off x="1733550" y="1095375"/>
            <a:ext cx="14811375" cy="7210425"/>
          </a:xfrm>
          <a:custGeom>
            <a:avLst/>
            <a:gdLst/>
            <a:ahLst/>
            <a:cxnLst/>
            <a:rect l="l" t="t" r="r" b="b"/>
            <a:pathLst>
              <a:path w="14811375" h="7210425">
                <a:moveTo>
                  <a:pt x="0" y="0"/>
                </a:moveTo>
                <a:lnTo>
                  <a:pt x="14811375" y="0"/>
                </a:lnTo>
                <a:lnTo>
                  <a:pt x="14811375" y="7210425"/>
                </a:lnTo>
                <a:lnTo>
                  <a:pt x="0" y="72104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71500" y="190500"/>
            <a:ext cx="17145000" cy="634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en-US" sz="42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RQ2 · On the phone, the better answer was also the cheaper one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334375"/>
            <a:ext cx="16230600" cy="61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45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5.8–26.9× more correct answers per kJ with vector retrieval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079230"/>
            <a:ext cx="162306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 of 5 readers (Qwen 0.8B: ratio undefined) · vector 20–50% correct vs full context 0–10% · 6.8–8.2× faster query service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591675"/>
            <a:ext cx="1623060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Galaxy S23 Ultra · 20 LoCoMo questions per cell · accuracy measured on the phone · energy from the hardware Coulomb counter</a:t>
            </a:r>
          </a:p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Similar phone studies (document RAG, preprints): Park et al., 2025 (MobileRAG, J per query) · Jiang et al., 2026 (SmartRAG, prefill-bound latency)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Thermal trace and cumulative energy during phone graph construction pilot"/>
          <p:cNvSpPr/>
          <p:nvPr/>
        </p:nvSpPr>
        <p:spPr>
          <a:xfrm>
            <a:off x="1102571" y="1094518"/>
            <a:ext cx="16156729" cy="7115175"/>
          </a:xfrm>
          <a:custGeom>
            <a:avLst/>
            <a:gdLst/>
            <a:ahLst/>
            <a:cxnLst/>
            <a:rect l="l" t="t" r="r" b="b"/>
            <a:pathLst>
              <a:path w="16156729" h="7115175">
                <a:moveTo>
                  <a:pt x="0" y="0"/>
                </a:moveTo>
                <a:lnTo>
                  <a:pt x="16156729" y="0"/>
                </a:lnTo>
                <a:lnTo>
                  <a:pt x="16156729" y="7115175"/>
                </a:lnTo>
                <a:lnTo>
                  <a:pt x="0" y="7115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" r="-4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90500"/>
            <a:ext cx="16230600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00"/>
              </a:lnSpc>
              <a:spcBef>
                <a:spcPct val="0"/>
              </a:spcBef>
            </a:pPr>
            <a:r>
              <a:rPr lang="en-US" sz="5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RQ2 · The bill a prompt doesn't show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1500" y="8198692"/>
            <a:ext cx="17145000" cy="61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45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Building the memory: a graph cost about 26× the energy of embeddings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833485"/>
            <a:ext cx="1623060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52.3 J vs 2.04 J per history turn · before even the first question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320618"/>
            <a:ext cx="162306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Graph pilot: 419 turns   ·   92 min   ·   21.9 kJ   ·   58 of 84 extraction batches failed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791153"/>
            <a:ext cx="1623060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Similar finding on servers: ingestion and retrieval dominate processing time in memory frameworks (Jia et al., 2025, TMLR)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Case study: how the graph pilot lost the adoption fact through extraction and tied retrieval"/>
          <p:cNvSpPr/>
          <p:nvPr/>
        </p:nvSpPr>
        <p:spPr>
          <a:xfrm>
            <a:off x="1333500" y="1143000"/>
            <a:ext cx="15621000" cy="6667500"/>
          </a:xfrm>
          <a:custGeom>
            <a:avLst/>
            <a:gdLst/>
            <a:ahLst/>
            <a:cxnLst/>
            <a:rect l="l" t="t" r="r" b="b"/>
            <a:pathLst>
              <a:path w="15621000" h="6667500">
                <a:moveTo>
                  <a:pt x="0" y="0"/>
                </a:moveTo>
                <a:lnTo>
                  <a:pt x="15621000" y="0"/>
                </a:lnTo>
                <a:lnTo>
                  <a:pt x="1562100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200025"/>
            <a:ext cx="16230600" cy="7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99"/>
              </a:lnSpc>
              <a:spcBef>
                <a:spcPct val="0"/>
              </a:spcBef>
            </a:pPr>
            <a:r>
              <a:rPr lang="en-US" sz="4999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RQ3 · One failure, traced end to end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1500" y="8019733"/>
            <a:ext cx="17145000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The fact was weakened in extraction, then crowded out by a tie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859520"/>
            <a:ext cx="16230600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72 candidate facts tie at the same score   ·   9 of 12 kept slots filled by iteration order, not relevance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591675"/>
            <a:ext cx="1623060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Galaxy S23 Ultra graph pilot · LoCoMo conv-26 · Gemma 4 E2B extractor · one-hop ego retrieval (GraphRAG v1)</a:t>
            </a:r>
          </a:p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Similar finding: an RGCN reasoner drops from 60.69% on ground-truth facts to 24.88% on facts extracted by a 4B Gemma model (Kelesis et al., 2026)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GraphRAG repair ladder from v1 to v4 beside vector retrieval, with prompt tokens"/>
          <p:cNvSpPr/>
          <p:nvPr/>
        </p:nvSpPr>
        <p:spPr>
          <a:xfrm>
            <a:off x="2257425" y="1143000"/>
            <a:ext cx="13763625" cy="6981825"/>
          </a:xfrm>
          <a:custGeom>
            <a:avLst/>
            <a:gdLst/>
            <a:ahLst/>
            <a:cxnLst/>
            <a:rect l="l" t="t" r="r" b="b"/>
            <a:pathLst>
              <a:path w="13763625" h="6981825">
                <a:moveTo>
                  <a:pt x="0" y="0"/>
                </a:moveTo>
                <a:lnTo>
                  <a:pt x="13763625" y="0"/>
                </a:lnTo>
                <a:lnTo>
                  <a:pt x="13763625" y="6981825"/>
                </a:lnTo>
                <a:lnTo>
                  <a:pt x="0" y="6981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90500"/>
            <a:ext cx="16230600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00"/>
              </a:lnSpc>
              <a:spcBef>
                <a:spcPct val="0"/>
              </a:spcBef>
            </a:pPr>
            <a:r>
              <a:rPr lang="en-US" sz="5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RQ3 · Putting the source text back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1500" y="8229600"/>
            <a:ext cx="17145000" cy="61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lang="en-US" sz="345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21.5% → 33.0% by restoring the source turns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71500" y="9024620"/>
            <a:ext cx="17145000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20"/>
              </a:lnSpc>
              <a:spcBef>
                <a:spcPct val="0"/>
              </a:spcBef>
            </a:pPr>
            <a:r>
              <a:rPr lang="en-US" sz="23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Same retrieved turns, same model: adding the source text recovered most of the gap  ·  still below vector 36.0%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591675"/>
            <a:ext cx="1623060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LoCoMo · 200 questions · Gemma 4 E2B · workstation · E4B: 27.5% → 32.5% · restored text also lengthens the prompt (520 → 813 tokens)</a:t>
            </a:r>
          </a:p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Similar finding with larger models: graph results depend on the evidence supplied, triples alone or with source text (Han et al., 2026, KDD)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" y="2000250"/>
            <a:ext cx="7048500" cy="3143250"/>
            <a:chOff x="0" y="0"/>
            <a:chExt cx="9398000" cy="4191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398000" cy="4191000"/>
            </a:xfrm>
            <a:custGeom>
              <a:avLst/>
              <a:gdLst/>
              <a:ahLst/>
              <a:cxnLst/>
              <a:rect l="l" t="t" r="r" b="b"/>
              <a:pathLst>
                <a:path w="9398000" h="4191000">
                  <a:moveTo>
                    <a:pt x="34324" y="0"/>
                  </a:moveTo>
                  <a:lnTo>
                    <a:pt x="9363676" y="0"/>
                  </a:lnTo>
                  <a:cubicBezTo>
                    <a:pt x="9372779" y="0"/>
                    <a:pt x="9381510" y="3616"/>
                    <a:pt x="9387946" y="10053"/>
                  </a:cubicBezTo>
                  <a:cubicBezTo>
                    <a:pt x="9394384" y="16490"/>
                    <a:pt x="9398000" y="25221"/>
                    <a:pt x="9398000" y="34324"/>
                  </a:cubicBezTo>
                  <a:lnTo>
                    <a:pt x="9398000" y="4156676"/>
                  </a:lnTo>
                  <a:cubicBezTo>
                    <a:pt x="9398000" y="4165779"/>
                    <a:pt x="9394384" y="4174510"/>
                    <a:pt x="9387946" y="4180947"/>
                  </a:cubicBezTo>
                  <a:cubicBezTo>
                    <a:pt x="9381510" y="4187384"/>
                    <a:pt x="9372779" y="4191000"/>
                    <a:pt x="9363676" y="4191000"/>
                  </a:cubicBezTo>
                  <a:lnTo>
                    <a:pt x="34324" y="4191000"/>
                  </a:lnTo>
                  <a:cubicBezTo>
                    <a:pt x="25221" y="4191000"/>
                    <a:pt x="16490" y="4187384"/>
                    <a:pt x="10053" y="4180947"/>
                  </a:cubicBezTo>
                  <a:cubicBezTo>
                    <a:pt x="3616" y="4174510"/>
                    <a:pt x="0" y="4165779"/>
                    <a:pt x="0" y="4156676"/>
                  </a:cubicBezTo>
                  <a:lnTo>
                    <a:pt x="0" y="34324"/>
                  </a:lnTo>
                  <a:cubicBezTo>
                    <a:pt x="0" y="25221"/>
                    <a:pt x="3616" y="16490"/>
                    <a:pt x="10053" y="10053"/>
                  </a:cubicBezTo>
                  <a:cubicBezTo>
                    <a:pt x="16490" y="3616"/>
                    <a:pt x="25221" y="0"/>
                    <a:pt x="34324" y="0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9398000" cy="421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715500" y="2000250"/>
            <a:ext cx="7048500" cy="3143250"/>
            <a:chOff x="0" y="0"/>
            <a:chExt cx="9398000" cy="4191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98000" cy="4191000"/>
            </a:xfrm>
            <a:custGeom>
              <a:avLst/>
              <a:gdLst/>
              <a:ahLst/>
              <a:cxnLst/>
              <a:rect l="l" t="t" r="r" b="b"/>
              <a:pathLst>
                <a:path w="9398000" h="4191000">
                  <a:moveTo>
                    <a:pt x="34324" y="0"/>
                  </a:moveTo>
                  <a:lnTo>
                    <a:pt x="9363676" y="0"/>
                  </a:lnTo>
                  <a:cubicBezTo>
                    <a:pt x="9372779" y="0"/>
                    <a:pt x="9381510" y="3616"/>
                    <a:pt x="9387946" y="10053"/>
                  </a:cubicBezTo>
                  <a:cubicBezTo>
                    <a:pt x="9394384" y="16490"/>
                    <a:pt x="9398000" y="25221"/>
                    <a:pt x="9398000" y="34324"/>
                  </a:cubicBezTo>
                  <a:lnTo>
                    <a:pt x="9398000" y="4156676"/>
                  </a:lnTo>
                  <a:cubicBezTo>
                    <a:pt x="9398000" y="4165779"/>
                    <a:pt x="9394384" y="4174510"/>
                    <a:pt x="9387946" y="4180947"/>
                  </a:cubicBezTo>
                  <a:cubicBezTo>
                    <a:pt x="9381510" y="4187384"/>
                    <a:pt x="9372779" y="4191000"/>
                    <a:pt x="9363676" y="4191000"/>
                  </a:cubicBezTo>
                  <a:lnTo>
                    <a:pt x="34324" y="4191000"/>
                  </a:lnTo>
                  <a:cubicBezTo>
                    <a:pt x="25221" y="4191000"/>
                    <a:pt x="16490" y="4187384"/>
                    <a:pt x="10053" y="4180947"/>
                  </a:cubicBezTo>
                  <a:cubicBezTo>
                    <a:pt x="3616" y="4174510"/>
                    <a:pt x="0" y="4165779"/>
                    <a:pt x="0" y="4156676"/>
                  </a:cubicBezTo>
                  <a:lnTo>
                    <a:pt x="0" y="34324"/>
                  </a:lnTo>
                  <a:cubicBezTo>
                    <a:pt x="0" y="25221"/>
                    <a:pt x="3616" y="16490"/>
                    <a:pt x="10053" y="10053"/>
                  </a:cubicBezTo>
                  <a:cubicBezTo>
                    <a:pt x="16490" y="3616"/>
                    <a:pt x="25221" y="0"/>
                    <a:pt x="34324" y="0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FBBF2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9398000" cy="4219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4000" y="5619750"/>
            <a:ext cx="15240000" cy="2206580"/>
            <a:chOff x="0" y="0"/>
            <a:chExt cx="20320000" cy="29421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20000" cy="2942107"/>
            </a:xfrm>
            <a:custGeom>
              <a:avLst/>
              <a:gdLst/>
              <a:ahLst/>
              <a:cxnLst/>
              <a:rect l="l" t="t" r="r" b="b"/>
              <a:pathLst>
                <a:path w="20320000" h="2942107">
                  <a:moveTo>
                    <a:pt x="15875" y="0"/>
                  </a:moveTo>
                  <a:lnTo>
                    <a:pt x="20304125" y="0"/>
                  </a:lnTo>
                  <a:cubicBezTo>
                    <a:pt x="20312892" y="0"/>
                    <a:pt x="20320000" y="7107"/>
                    <a:pt x="20320000" y="15875"/>
                  </a:cubicBezTo>
                  <a:lnTo>
                    <a:pt x="20320000" y="2926232"/>
                  </a:lnTo>
                  <a:cubicBezTo>
                    <a:pt x="20320000" y="2930442"/>
                    <a:pt x="20318327" y="2934480"/>
                    <a:pt x="20315351" y="2937457"/>
                  </a:cubicBezTo>
                  <a:cubicBezTo>
                    <a:pt x="20312373" y="2940434"/>
                    <a:pt x="20308336" y="2942107"/>
                    <a:pt x="20304125" y="2942107"/>
                  </a:cubicBezTo>
                  <a:lnTo>
                    <a:pt x="15875" y="2942107"/>
                  </a:lnTo>
                  <a:cubicBezTo>
                    <a:pt x="7107" y="2942107"/>
                    <a:pt x="0" y="2934999"/>
                    <a:pt x="0" y="2926232"/>
                  </a:cubicBez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0320000" cy="2970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71500" y="190500"/>
            <a:ext cx="17145000" cy="70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15"/>
              </a:lnSpc>
              <a:spcBef>
                <a:spcPct val="0"/>
              </a:spcBef>
            </a:pPr>
            <a:r>
              <a:rPr lang="en-US" sz="465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RQ3 · SPE: keep the triple, or pay for its source?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1500" y="1019175"/>
            <a:ext cx="17145000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Under a token budget, expand only the facts that need their original text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05000" y="2152650"/>
            <a:ext cx="62865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Triple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05000" y="2838450"/>
            <a:ext cx="628650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i="1">
                <a:solidFill>
                  <a:srgbClr val="CBD5E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(John, went to, martial arts gym)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05000" y="3857625"/>
            <a:ext cx="62865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 u="none" strike="noStrike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mean ≈ 17.5 tokens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96500" y="2152650"/>
            <a:ext cx="62865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+ its source turn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96500" y="2809875"/>
            <a:ext cx="628650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 i="1">
                <a:solidFill>
                  <a:srgbClr val="CBD5E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“I went to that martial arts gym on 5th street to do kickboxing and taekwondo!”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96500" y="3857625"/>
            <a:ext cx="62865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19"/>
              </a:lnSpc>
              <a:spcBef>
                <a:spcPct val="0"/>
              </a:spcBef>
            </a:pPr>
            <a:r>
              <a:rPr lang="en-US" sz="4800" b="1" u="none" strike="noStrike">
                <a:solidFill>
                  <a:srgbClr val="FBBF24"/>
                </a:solidFill>
                <a:latin typeface="Poppins Bold"/>
                <a:ea typeface="Poppins Bold"/>
                <a:cs typeface="Poppins Bold"/>
                <a:sym typeface="Poppins Bold"/>
              </a:rPr>
              <a:t>mean + ≈ 75 tokens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14500" y="5861368"/>
            <a:ext cx="14859000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60"/>
              </a:lnSpc>
              <a:spcBef>
                <a:spcPct val="0"/>
              </a:spcBef>
            </a:pPr>
            <a:r>
              <a:rPr lang="en-US" sz="29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rule: most similarity per token, until the budget is full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14500" y="6899910"/>
            <a:ext cx="14859000" cy="776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37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Budgets: 240 or 370 tokens  ·  a new triple competes with its full similarity;</a:t>
            </a:r>
          </a:p>
          <a:p>
            <a:pPr marL="0" lvl="0" indent="0" algn="ctr">
              <a:lnSpc>
                <a:spcPts val="3037"/>
              </a:lnSpc>
              <a:spcBef>
                <a:spcPct val="0"/>
              </a:spcBef>
            </a:pPr>
            <a:r>
              <a:rPr lang="en-US" sz="2250" u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an upgrade only with the similarity it adds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1500" y="9572625"/>
            <a:ext cx="17145000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Measured means: 17.5 tokens per selected triple, 75.4 tokens per upgrade (Gemma 4 E2B, budget 370)</a:t>
            </a:r>
          </a:p>
          <a:p>
            <a:pPr algn="ctr">
              <a:lnSpc>
                <a:spcPts val="2204"/>
              </a:lnSpc>
            </a:pPr>
            <a:r>
              <a:rPr lang="en-US" sz="1575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Related designs: SEEM adds source text for every retrieved event frame (Lu et al., 2026, ACL); LeanMem when an LLM planner asks (Liao et al., 2026)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190500"/>
            <a:ext cx="17145000" cy="665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40"/>
              </a:lnSpc>
              <a:spcBef>
                <a:spcPct val="0"/>
              </a:spcBef>
            </a:pPr>
            <a:r>
              <a:rPr lang="en-US" sz="44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RQ3 · SPE result: the selector never chose a source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239500" y="1190625"/>
            <a:ext cx="6477000" cy="1091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7200" b="1" u="none" strike="noStrike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0 of 800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1500" y="8740140"/>
            <a:ext cx="17145000" cy="518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90"/>
              </a:lnSpc>
              <a:spcBef>
                <a:spcPct val="0"/>
              </a:spcBef>
            </a:pPr>
            <a:r>
              <a:rPr lang="en-US" sz="2850" b="1" u="none" strike="noStrike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The per-fact rule failed; the oracle's headroom is at the question level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686925"/>
            <a:ext cx="16230600" cy="28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04"/>
              </a:lnSpc>
              <a:spcBef>
                <a:spcPct val="0"/>
              </a:spcBef>
            </a:pPr>
            <a:r>
              <a:rPr lang="en-US" sz="1575" u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LoCoMo · 200 questions · Gemma 4 E2B shown (E4B: SPE 25.0–25.5%, oracle 33.5%) · workstation</a:t>
            </a:r>
          </a:p>
        </p:txBody>
      </p:sp>
      <p:sp>
        <p:nvSpPr>
          <p:cNvPr id="6" name="Freeform 6" descr="Gemma E2B: SPE-2 accuracy versus prompt tokens beside GraphRAG v3, GraphRAG v4, vector retrieval and the post hoc oracle"/>
          <p:cNvSpPr/>
          <p:nvPr/>
        </p:nvSpPr>
        <p:spPr>
          <a:xfrm>
            <a:off x="571500" y="1143000"/>
            <a:ext cx="10277475" cy="7048500"/>
          </a:xfrm>
          <a:custGeom>
            <a:avLst/>
            <a:gdLst/>
            <a:ahLst/>
            <a:cxnLst/>
            <a:rect l="l" t="t" r="r" b="b"/>
            <a:pathLst>
              <a:path w="10277475" h="7048500">
                <a:moveTo>
                  <a:pt x="0" y="0"/>
                </a:moveTo>
                <a:lnTo>
                  <a:pt x="10277475" y="0"/>
                </a:lnTo>
                <a:lnTo>
                  <a:pt x="10277475" y="7048500"/>
                </a:lnTo>
                <a:lnTo>
                  <a:pt x="0" y="7048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1239500" y="2266950"/>
            <a:ext cx="647700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prompts chose a source turn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239500" y="2905125"/>
            <a:ext cx="64770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27.0% vs 33.0%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39500" y="3895725"/>
            <a:ext cx="64770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SPE-2 (budget 370) vs graph + source text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39500" y="4619625"/>
            <a:ext cx="64770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E2A9F1"/>
                </a:solidFill>
                <a:latin typeface="Poppins Bold"/>
                <a:ea typeface="Poppins Bold"/>
                <a:cs typeface="Poppins Bold"/>
                <a:sym typeface="Poppins Bold"/>
              </a:rPr>
              <a:t>Oracle: 35.0%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39500" y="5629275"/>
            <a:ext cx="64770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with 31% fewer tokens than graph + source text (an upper bound)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39500" y="6867525"/>
            <a:ext cx="64770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94A3B8"/>
                </a:solidFill>
                <a:latin typeface="Poppins Bold"/>
                <a:ea typeface="Poppins Bold"/>
                <a:cs typeface="Poppins Bold"/>
                <a:sym typeface="Poppins Bold"/>
              </a:rPr>
              <a:t>Random expansion: 23.1%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39500" y="7467600"/>
            <a:ext cx="64770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same share of questions expanded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0500"/>
            <a:ext cx="16230600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What’s Next 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24000" y="3216275"/>
            <a:ext cx="15240000" cy="369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493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Cheaper construction: a small model that only builds memory, judged in correct answers per kJ</a:t>
            </a:r>
          </a:p>
          <a:p>
            <a:pPr marL="626111" lvl="1" indent="-313055" algn="l">
              <a:lnSpc>
                <a:spcPts val="493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better thing to store: structure that keeps its source text, so the detail survives</a:t>
            </a:r>
          </a:p>
          <a:p>
            <a:pPr marL="626111" lvl="1" indent="-313055" algn="l">
              <a:lnSpc>
                <a:spcPts val="493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Decide source expansion once per question, where the oracle shows headroom</a:t>
            </a:r>
          </a:p>
          <a:p>
            <a:pPr marL="626111" lvl="1" indent="-313055" algn="l">
              <a:lnSpc>
                <a:spcPts val="493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Beyond question answering: memory behind tool use and actions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4654867"/>
            <a:ext cx="16230600" cy="97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 dirty="0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705850"/>
            <a:ext cx="16230600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Ioannis Bouzas  ·  Supervisor: Konstantinos Skianis  ·  Department of Computer Science &amp; Engineering, University of Ioannina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429000"/>
            <a:ext cx="16230600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US" sz="82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Backup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799647"/>
            <a:ext cx="16230600" cy="5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Details for questions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6076950"/>
            <a:ext cx="16230600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15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Contributions · Answer grid · Limits</a:t>
            </a:r>
          </a:p>
          <a:p>
            <a:pPr marL="0" lvl="0" indent="0" algn="ctr">
              <a:lnSpc>
                <a:spcPts val="3315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B1 Pipeline  ·  B2 Baseline budget  ·  B3 Retrieval vs reading  ·  B4 Reasoning  ·  B5 Prompt  ·  B6 Phone workload  ·  B7 Query time</a:t>
            </a:r>
          </a:p>
          <a:p>
            <a:pPr marL="0" lvl="0" indent="0" algn="ctr">
              <a:lnSpc>
                <a:spcPts val="3315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B8 KV cache  ·  B9 Parity gate  ·  B10 SPE both readers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0500"/>
            <a:ext cx="16230600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What this thesis contributes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24000" y="1622248"/>
            <a:ext cx="15240000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spcBef>
                <a:spcPct val="0"/>
              </a:spcBef>
              <a:buAutoNum type="arabicPeriod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controlled comparison of full context (truncated and with a long window), vector retrieval and SLM-extracted graph memory: five readers, two benchmarks, retrieval depth against model size.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24000" y="3800120"/>
            <a:ext cx="15240000" cy="150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AutoNum type="arabicPeriod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smartphone study that relates answer quality to measured energy: correct answers per kJ, latency, memory and heat, and the energy of building each memory.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24000" y="6038141"/>
            <a:ext cx="1524000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AutoNum type="arabicPeriod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 analysis of where graph memory loses evidence, through successive repairs, source-text restoration and extractor-versus-reader controls.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24000" y="7828132"/>
            <a:ext cx="15240000" cy="100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AutoNum type="arabicPeriod"/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Selective Provenance Expansion, tested against criteria recorded in advance: a negative result, with its diagnosis and an upper bound.</a:t>
            </a:r>
          </a:p>
        </p:txBody>
      </p:sp>
      <p:sp>
        <p:nvSpPr>
          <p:cNvPr id="7" name="AutoShape 7"/>
          <p:cNvSpPr/>
          <p:nvPr/>
        </p:nvSpPr>
        <p:spPr>
          <a:xfrm>
            <a:off x="1524000" y="3492234"/>
            <a:ext cx="152400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1524000" y="5700181"/>
            <a:ext cx="152400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524000" y="7466536"/>
            <a:ext cx="152400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1500" y="190500"/>
            <a:ext cx="17145000" cy="62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510"/>
              </a:lnSpc>
              <a:spcBef>
                <a:spcPct val="0"/>
              </a:spcBef>
            </a:pPr>
            <a:r>
              <a:rPr lang="en-US" sz="41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How should an on-device agent remember? The answers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476750" y="1457325"/>
            <a:ext cx="419100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Recent turns (full context)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48750" y="1457325"/>
            <a:ext cx="419100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Vector retrieval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620750" y="1457325"/>
            <a:ext cx="419100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Knowledge graph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1500" y="3352800"/>
            <a:ext cx="3619500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Answer quality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1500" y="6686550"/>
            <a:ext cx="3619500" cy="5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On-device cost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476750" y="2286000"/>
            <a:ext cx="4191000" cy="2857500"/>
            <a:chOff x="0" y="0"/>
            <a:chExt cx="5588000" cy="381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88000" cy="3810000"/>
            </a:xfrm>
            <a:custGeom>
              <a:avLst/>
              <a:gdLst/>
              <a:ahLst/>
              <a:cxnLst/>
              <a:rect l="l" t="t" r="r" b="b"/>
              <a:pathLst>
                <a:path w="5588000" h="3810000">
                  <a:moveTo>
                    <a:pt x="57727" y="0"/>
                  </a:moveTo>
                  <a:lnTo>
                    <a:pt x="5530273" y="0"/>
                  </a:lnTo>
                  <a:cubicBezTo>
                    <a:pt x="5562155" y="0"/>
                    <a:pt x="5588000" y="25845"/>
                    <a:pt x="5588000" y="57727"/>
                  </a:cubicBezTo>
                  <a:lnTo>
                    <a:pt x="5588000" y="3752273"/>
                  </a:lnTo>
                  <a:cubicBezTo>
                    <a:pt x="5588000" y="3784155"/>
                    <a:pt x="5562155" y="3810000"/>
                    <a:pt x="5530273" y="3810000"/>
                  </a:cubicBezTo>
                  <a:lnTo>
                    <a:pt x="57727" y="3810000"/>
                  </a:lnTo>
                  <a:cubicBezTo>
                    <a:pt x="25845" y="3810000"/>
                    <a:pt x="0" y="3784155"/>
                    <a:pt x="0" y="3752273"/>
                  </a:cubicBezTo>
                  <a:lnTo>
                    <a:pt x="0" y="57727"/>
                  </a:lnTo>
                  <a:cubicBezTo>
                    <a:pt x="0" y="25845"/>
                    <a:pt x="25845" y="0"/>
                    <a:pt x="57727" y="0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5588000" cy="3838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048750" y="2286000"/>
            <a:ext cx="4191000" cy="2857500"/>
            <a:chOff x="0" y="0"/>
            <a:chExt cx="5588000" cy="381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88000" cy="3810000"/>
            </a:xfrm>
            <a:custGeom>
              <a:avLst/>
              <a:gdLst/>
              <a:ahLst/>
              <a:cxnLst/>
              <a:rect l="l" t="t" r="r" b="b"/>
              <a:pathLst>
                <a:path w="5588000" h="3810000">
                  <a:moveTo>
                    <a:pt x="57727" y="0"/>
                  </a:moveTo>
                  <a:lnTo>
                    <a:pt x="5530273" y="0"/>
                  </a:lnTo>
                  <a:cubicBezTo>
                    <a:pt x="5562155" y="0"/>
                    <a:pt x="5588000" y="25845"/>
                    <a:pt x="5588000" y="57727"/>
                  </a:cubicBezTo>
                  <a:lnTo>
                    <a:pt x="5588000" y="3752273"/>
                  </a:lnTo>
                  <a:cubicBezTo>
                    <a:pt x="5588000" y="3784155"/>
                    <a:pt x="5562155" y="3810000"/>
                    <a:pt x="5530273" y="3810000"/>
                  </a:cubicBezTo>
                  <a:lnTo>
                    <a:pt x="57727" y="3810000"/>
                  </a:lnTo>
                  <a:cubicBezTo>
                    <a:pt x="25845" y="3810000"/>
                    <a:pt x="0" y="3784155"/>
                    <a:pt x="0" y="3752273"/>
                  </a:cubicBezTo>
                  <a:lnTo>
                    <a:pt x="0" y="57727"/>
                  </a:lnTo>
                  <a:cubicBezTo>
                    <a:pt x="0" y="25845"/>
                    <a:pt x="25845" y="0"/>
                    <a:pt x="57727" y="0"/>
                  </a:cubicBezTo>
                  <a:close/>
                </a:path>
              </a:pathLst>
            </a:custGeom>
            <a:solidFill>
              <a:srgbClr val="1E293B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5588000" cy="3838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620750" y="2286000"/>
            <a:ext cx="4191000" cy="2857500"/>
            <a:chOff x="0" y="0"/>
            <a:chExt cx="5588000" cy="381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88000" cy="3810000"/>
            </a:xfrm>
            <a:custGeom>
              <a:avLst/>
              <a:gdLst/>
              <a:ahLst/>
              <a:cxnLst/>
              <a:rect l="l" t="t" r="r" b="b"/>
              <a:pathLst>
                <a:path w="5588000" h="3810000">
                  <a:moveTo>
                    <a:pt x="57727" y="0"/>
                  </a:moveTo>
                  <a:lnTo>
                    <a:pt x="5530273" y="0"/>
                  </a:lnTo>
                  <a:cubicBezTo>
                    <a:pt x="5562155" y="0"/>
                    <a:pt x="5588000" y="25845"/>
                    <a:pt x="5588000" y="57727"/>
                  </a:cubicBezTo>
                  <a:lnTo>
                    <a:pt x="5588000" y="3752273"/>
                  </a:lnTo>
                  <a:cubicBezTo>
                    <a:pt x="5588000" y="3784155"/>
                    <a:pt x="5562155" y="3810000"/>
                    <a:pt x="5530273" y="3810000"/>
                  </a:cubicBezTo>
                  <a:lnTo>
                    <a:pt x="57727" y="3810000"/>
                  </a:lnTo>
                  <a:cubicBezTo>
                    <a:pt x="25845" y="3810000"/>
                    <a:pt x="0" y="3784155"/>
                    <a:pt x="0" y="3752273"/>
                  </a:cubicBezTo>
                  <a:lnTo>
                    <a:pt x="0" y="57727"/>
                  </a:lnTo>
                  <a:cubicBezTo>
                    <a:pt x="0" y="25845"/>
                    <a:pt x="25845" y="0"/>
                    <a:pt x="57727" y="0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5588000" cy="3838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5619750"/>
            <a:ext cx="4191000" cy="2857500"/>
            <a:chOff x="0" y="0"/>
            <a:chExt cx="5588000" cy="3810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588000" cy="3810000"/>
            </a:xfrm>
            <a:custGeom>
              <a:avLst/>
              <a:gdLst/>
              <a:ahLst/>
              <a:cxnLst/>
              <a:rect l="l" t="t" r="r" b="b"/>
              <a:pathLst>
                <a:path w="5588000" h="3810000">
                  <a:moveTo>
                    <a:pt x="57727" y="0"/>
                  </a:moveTo>
                  <a:lnTo>
                    <a:pt x="5530273" y="0"/>
                  </a:lnTo>
                  <a:cubicBezTo>
                    <a:pt x="5562155" y="0"/>
                    <a:pt x="5588000" y="25845"/>
                    <a:pt x="5588000" y="57727"/>
                  </a:cubicBezTo>
                  <a:lnTo>
                    <a:pt x="5588000" y="3752273"/>
                  </a:lnTo>
                  <a:cubicBezTo>
                    <a:pt x="5588000" y="3784155"/>
                    <a:pt x="5562155" y="3810000"/>
                    <a:pt x="5530273" y="3810000"/>
                  </a:cubicBezTo>
                  <a:lnTo>
                    <a:pt x="57727" y="3810000"/>
                  </a:lnTo>
                  <a:cubicBezTo>
                    <a:pt x="25845" y="3810000"/>
                    <a:pt x="0" y="3784155"/>
                    <a:pt x="0" y="3752273"/>
                  </a:cubicBezTo>
                  <a:lnTo>
                    <a:pt x="0" y="57727"/>
                  </a:lnTo>
                  <a:cubicBezTo>
                    <a:pt x="0" y="25845"/>
                    <a:pt x="25845" y="0"/>
                    <a:pt x="57727" y="0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5588000" cy="3838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48750" y="5619750"/>
            <a:ext cx="4191000" cy="2857500"/>
            <a:chOff x="0" y="0"/>
            <a:chExt cx="5588000" cy="3810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88000" cy="3810000"/>
            </a:xfrm>
            <a:custGeom>
              <a:avLst/>
              <a:gdLst/>
              <a:ahLst/>
              <a:cxnLst/>
              <a:rect l="l" t="t" r="r" b="b"/>
              <a:pathLst>
                <a:path w="5588000" h="3810000">
                  <a:moveTo>
                    <a:pt x="57727" y="0"/>
                  </a:moveTo>
                  <a:lnTo>
                    <a:pt x="5530273" y="0"/>
                  </a:lnTo>
                  <a:cubicBezTo>
                    <a:pt x="5562155" y="0"/>
                    <a:pt x="5588000" y="25845"/>
                    <a:pt x="5588000" y="57727"/>
                  </a:cubicBezTo>
                  <a:lnTo>
                    <a:pt x="5588000" y="3752273"/>
                  </a:lnTo>
                  <a:cubicBezTo>
                    <a:pt x="5588000" y="3784155"/>
                    <a:pt x="5562155" y="3810000"/>
                    <a:pt x="5530273" y="3810000"/>
                  </a:cubicBezTo>
                  <a:lnTo>
                    <a:pt x="57727" y="3810000"/>
                  </a:lnTo>
                  <a:cubicBezTo>
                    <a:pt x="25845" y="3810000"/>
                    <a:pt x="0" y="3784155"/>
                    <a:pt x="0" y="3752273"/>
                  </a:cubicBezTo>
                  <a:lnTo>
                    <a:pt x="0" y="57727"/>
                  </a:lnTo>
                  <a:cubicBezTo>
                    <a:pt x="0" y="25845"/>
                    <a:pt x="25845" y="0"/>
                    <a:pt x="57727" y="0"/>
                  </a:cubicBezTo>
                  <a:close/>
                </a:path>
              </a:pathLst>
            </a:custGeom>
            <a:solidFill>
              <a:srgbClr val="1E293B"/>
            </a:solidFill>
            <a:ln w="28575" cap="sq">
              <a:solidFill>
                <a:srgbClr val="22D3E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5588000" cy="3838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620750" y="5619750"/>
            <a:ext cx="4191000" cy="2857500"/>
            <a:chOff x="0" y="0"/>
            <a:chExt cx="5588000" cy="38100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588000" cy="3810000"/>
            </a:xfrm>
            <a:custGeom>
              <a:avLst/>
              <a:gdLst/>
              <a:ahLst/>
              <a:cxnLst/>
              <a:rect l="l" t="t" r="r" b="b"/>
              <a:pathLst>
                <a:path w="5588000" h="3810000">
                  <a:moveTo>
                    <a:pt x="57727" y="0"/>
                  </a:moveTo>
                  <a:lnTo>
                    <a:pt x="5530273" y="0"/>
                  </a:lnTo>
                  <a:cubicBezTo>
                    <a:pt x="5562155" y="0"/>
                    <a:pt x="5588000" y="25845"/>
                    <a:pt x="5588000" y="57727"/>
                  </a:cubicBezTo>
                  <a:lnTo>
                    <a:pt x="5588000" y="3752273"/>
                  </a:lnTo>
                  <a:cubicBezTo>
                    <a:pt x="5588000" y="3784155"/>
                    <a:pt x="5562155" y="3810000"/>
                    <a:pt x="5530273" y="3810000"/>
                  </a:cubicBezTo>
                  <a:lnTo>
                    <a:pt x="57727" y="3810000"/>
                  </a:lnTo>
                  <a:cubicBezTo>
                    <a:pt x="25845" y="3810000"/>
                    <a:pt x="0" y="3784155"/>
                    <a:pt x="0" y="3752273"/>
                  </a:cubicBezTo>
                  <a:lnTo>
                    <a:pt x="0" y="57727"/>
                  </a:lnTo>
                  <a:cubicBezTo>
                    <a:pt x="0" y="25845"/>
                    <a:pt x="25845" y="0"/>
                    <a:pt x="57727" y="0"/>
                  </a:cubicBezTo>
                  <a:close/>
                </a:path>
              </a:pathLst>
            </a:custGeom>
            <a:solidFill>
              <a:srgbClr val="1E293B"/>
            </a:solidFill>
            <a:ln w="19050" cap="sq">
              <a:solidFill>
                <a:srgbClr val="47556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5588000" cy="3838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714875" y="2495550"/>
            <a:ext cx="3714750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F87171"/>
                </a:solidFill>
                <a:latin typeface="Poppins Bold"/>
                <a:ea typeface="Poppins Bold"/>
                <a:cs typeface="Poppins Bold"/>
                <a:sym typeface="Poppins Bold"/>
              </a:rPr>
              <a:t>✗  Lowest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14875" y="3276600"/>
            <a:ext cx="3714750" cy="103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7.5% on LoCoMo (Gemma E2B, 4,096-token window)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≤ 10% on LongMemEval-S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86875" y="2495550"/>
            <a:ext cx="3714750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4ADE80"/>
                </a:solidFill>
                <a:latin typeface="Poppins Bold"/>
                <a:ea typeface="Poppins Bold"/>
                <a:cs typeface="Poppins Bold"/>
                <a:sym typeface="Poppins Bold"/>
              </a:rPr>
              <a:t>✓  Highest estimate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286875" y="3276600"/>
            <a:ext cx="3714750" cy="103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36.0% (E2B), all 5 models</a:t>
            </a:r>
          </a:p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+15 to +27 pts from retrieval depth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58875" y="2495550"/>
            <a:ext cx="3714750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FBBF24"/>
                </a:solidFill>
                <a:latin typeface="Poppins Bold"/>
                <a:ea typeface="Poppins Bold"/>
                <a:cs typeface="Poppins Bold"/>
                <a:sym typeface="Poppins Bold"/>
              </a:rPr>
              <a:t>~  In between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858875" y="3276600"/>
            <a:ext cx="3714750" cy="103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21.5% → 33.0% with source text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adding source text recovers most of it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14875" y="5829300"/>
            <a:ext cx="3714750" cy="906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F87171"/>
                </a:solidFill>
                <a:latin typeface="Poppins Bold"/>
                <a:ea typeface="Poppins Bold"/>
                <a:cs typeface="Poppins Bold"/>
                <a:sym typeface="Poppins Bold"/>
              </a:rPr>
              <a:t>✗  Costliest per answer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14875" y="6781800"/>
            <a:ext cx="3714750" cy="103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vector gave 5.8–26.9× more correct answers per kJ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6.8–8.2× slower query service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86875" y="5829300"/>
            <a:ext cx="3714750" cy="906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69"/>
              </a:lnSpc>
              <a:spcBef>
                <a:spcPct val="0"/>
              </a:spcBef>
            </a:pPr>
            <a:r>
              <a:rPr lang="en-US" sz="2550" b="1" u="none" strike="noStrike">
                <a:solidFill>
                  <a:srgbClr val="4ADE80"/>
                </a:solidFill>
                <a:latin typeface="Poppins Bold"/>
                <a:ea typeface="Poppins Bold"/>
                <a:cs typeface="Poppins Bold"/>
                <a:sym typeface="Poppins Bold"/>
              </a:rPr>
              <a:t>✓  Cheapest per answer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86875" y="6781800"/>
            <a:ext cx="3714750" cy="137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551 J per answer (Gemma E2B)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2.04 J per turn to build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fastest query service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858875" y="5829300"/>
            <a:ext cx="3714750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F87171"/>
                </a:solidFill>
                <a:latin typeface="Poppins Bold"/>
                <a:ea typeface="Poppins Bold"/>
                <a:cs typeface="Poppins Bold"/>
                <a:sym typeface="Poppins Bold"/>
              </a:rPr>
              <a:t>✗  Expensive to build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858875" y="6781800"/>
            <a:ext cx="3714750" cy="1036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52.3 J per turn to build (≈26×)</a:t>
            </a:r>
          </a:p>
          <a:p>
            <a:pPr marL="0" lvl="0" indent="0" algn="l">
              <a:lnSpc>
                <a:spcPts val="2729"/>
              </a:lnSpc>
              <a:spcBef>
                <a:spcPct val="0"/>
              </a:spcBef>
            </a:pPr>
            <a:r>
              <a:rPr lang="en-US" sz="1950" u="none" strike="noStrike">
                <a:solidFill>
                  <a:srgbClr val="CBD5E1"/>
                </a:solidFill>
                <a:latin typeface="Poppins"/>
                <a:ea typeface="Poppins"/>
                <a:cs typeface="Poppins"/>
                <a:sym typeface="Poppins"/>
              </a:rPr>
              <a:t>construction pilot only; phone QA not measured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71500" y="9182100"/>
            <a:ext cx="17145000" cy="459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On a phone, the better memory was also the cheaper one, and the graph lost what its sources still held.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71500" y="3867150"/>
            <a:ext cx="3619500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94A3B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workstation · LoCoMo, 200 questions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1500" y="7200900"/>
            <a:ext cx="3619500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1">
                <a:solidFill>
                  <a:srgbClr val="94A3B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Galaxy S23 Ultra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0500"/>
            <a:ext cx="16230600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Limits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79826" y="2152650"/>
            <a:ext cx="14528347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51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One phone (Galaxy S23 Ultra), one runtime; 20 questions per phone cell</a:t>
            </a:r>
          </a:p>
          <a:p>
            <a:pPr marL="647700" lvl="1" indent="-323850" algn="l">
              <a:lnSpc>
                <a:spcPts val="51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One automatic judge (1 verdict in 100 changed across sessions); blind human audit: 82 of 83 decisive labels agree (κ 0.976)</a:t>
            </a:r>
          </a:p>
          <a:p>
            <a:pPr marL="647700" lvl="1" indent="-323850" algn="l">
              <a:lnSpc>
                <a:spcPts val="51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Graph on the phone = one construction pilot; no phone graph question-answering cell</a:t>
            </a:r>
          </a:p>
          <a:p>
            <a:pPr marL="647700" lvl="1" indent="-323850" algn="l">
              <a:lnSpc>
                <a:spcPts val="51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Graph conclusions cover graphs that small models extracted from dialogue, not knowledge graphs in general</a:t>
            </a:r>
          </a:p>
          <a:p>
            <a:pPr marL="647700" lvl="1" indent="-323850" algn="l">
              <a:lnSpc>
                <a:spcPts val="51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 answering only: not tool use or actions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Three memory pathways, one pipeline on two platforms"/>
          <p:cNvSpPr/>
          <p:nvPr/>
        </p:nvSpPr>
        <p:spPr>
          <a:xfrm>
            <a:off x="2393800" y="1266020"/>
            <a:ext cx="13500400" cy="7145360"/>
          </a:xfrm>
          <a:custGeom>
            <a:avLst/>
            <a:gdLst/>
            <a:ahLst/>
            <a:cxnLst/>
            <a:rect l="l" t="t" r="r" b="b"/>
            <a:pathLst>
              <a:path w="13500400" h="7145360">
                <a:moveTo>
                  <a:pt x="0" y="0"/>
                </a:moveTo>
                <a:lnTo>
                  <a:pt x="13500400" y="0"/>
                </a:lnTo>
                <a:lnTo>
                  <a:pt x="13500400" y="7145360"/>
                </a:lnTo>
                <a:lnTo>
                  <a:pt x="0" y="7145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9" r="-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90500"/>
            <a:ext cx="162306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How each memory is built and read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715375"/>
            <a:ext cx="162306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Same reader and answer prompt for every memory; only the context changes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620250"/>
            <a:ext cx="162306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B1 · Chapter 3 · workstation: Ollama, LoCoMo n=200, LongMemEval-S n=60 · phone: llama.cpp in Termux, LoCoMo n=20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0500"/>
            <a:ext cx="16230600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baseline: a fixed history budget, not unlimited memory</a:t>
            </a:r>
          </a:p>
        </p:txBody>
      </p:sp>
      <p:sp>
        <p:nvSpPr>
          <p:cNvPr id="3" name="Freeform 3" descr="LoCoMo conv-26 anatomy and how each memory handles the history"/>
          <p:cNvSpPr/>
          <p:nvPr/>
        </p:nvSpPr>
        <p:spPr>
          <a:xfrm>
            <a:off x="4470468" y="1599491"/>
            <a:ext cx="9400442" cy="6510275"/>
          </a:xfrm>
          <a:custGeom>
            <a:avLst/>
            <a:gdLst/>
            <a:ahLst/>
            <a:cxnLst/>
            <a:rect l="l" t="t" r="r" b="b"/>
            <a:pathLst>
              <a:path w="9400442" h="6510275">
                <a:moveTo>
                  <a:pt x="0" y="0"/>
                </a:moveTo>
                <a:lnTo>
                  <a:pt x="9400442" y="0"/>
                </a:lnTo>
                <a:lnTo>
                  <a:pt x="9400442" y="6510275"/>
                </a:lnTo>
                <a:lnTo>
                  <a:pt x="0" y="6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4" r="-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8308657"/>
            <a:ext cx="162306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Full context keeps the most recent turns that fit a 4,096-token budget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042082"/>
            <a:ext cx="162306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conv-26: only turns 341–419 of 419 remain; the Caroline question's evidence is turn 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620250"/>
            <a:ext cx="162306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B2 · Chapter 3 · budget counted as characters ÷ 4 · phone prompts 4,670–5,254 tokens, held in full · Ollama trims to 4,096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0500"/>
            <a:ext cx="162306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Retrieval failure or reading failure?</a:t>
            </a:r>
          </a:p>
        </p:txBody>
      </p:sp>
      <p:sp>
        <p:nvSpPr>
          <p:cNvPr id="3" name="Freeform 3" descr="Evidence presence and correctness across retrieval depths"/>
          <p:cNvSpPr/>
          <p:nvPr/>
        </p:nvSpPr>
        <p:spPr>
          <a:xfrm>
            <a:off x="1757362" y="1454944"/>
            <a:ext cx="14754225" cy="6286500"/>
          </a:xfrm>
          <a:custGeom>
            <a:avLst/>
            <a:gdLst/>
            <a:ahLst/>
            <a:cxnLst/>
            <a:rect l="l" t="t" r="r" b="b"/>
            <a:pathLst>
              <a:path w="14754225" h="6286500">
                <a:moveTo>
                  <a:pt x="0" y="0"/>
                </a:moveTo>
                <a:lnTo>
                  <a:pt x="14754226" y="0"/>
                </a:lnTo>
                <a:lnTo>
                  <a:pt x="14754226" y="6286500"/>
                </a:lnTo>
                <a:lnTo>
                  <a:pt x="0" y="6286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8234363"/>
            <a:ext cx="162306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More depth brings the evidence in; many answers stay wrong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042082"/>
            <a:ext cx="162306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 = 50: evidence in the prompt for 85 of 100 questions · with complete evidence, accuracy 31–55% across readers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620250"/>
            <a:ext cx="162306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B3 · LoCoMo, 100-question depth subset · Gemma E2B and E4B shown · evidence = dataset labels · 70B judge · Chapter 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0500"/>
            <a:ext cx="162306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Does reasoning ("thinking") help?</a:t>
            </a:r>
          </a:p>
        </p:txBody>
      </p:sp>
      <p:sp>
        <p:nvSpPr>
          <p:cNvPr id="3" name="Freeform 3" descr="Accuracy change and decode expansion with reasoning enabled, GraphRAG v3 cells labelled"/>
          <p:cNvSpPr/>
          <p:nvPr/>
        </p:nvSpPr>
        <p:spPr>
          <a:xfrm>
            <a:off x="2190750" y="1143000"/>
            <a:ext cx="13906500" cy="6286500"/>
          </a:xfrm>
          <a:custGeom>
            <a:avLst/>
            <a:gdLst/>
            <a:ahLst/>
            <a:cxnLst/>
            <a:rect l="l" t="t" r="r" b="b"/>
            <a:pathLst>
              <a:path w="13906500" h="6286500">
                <a:moveTo>
                  <a:pt x="0" y="0"/>
                </a:moveTo>
                <a:lnTo>
                  <a:pt x="13906500" y="0"/>
                </a:lnTo>
                <a:lnTo>
                  <a:pt x="13906500" y="6286500"/>
                </a:lnTo>
                <a:lnTo>
                  <a:pt x="0" y="6286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7870507"/>
            <a:ext cx="162306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Mixed: small gains with retrieval, at 40–59× the output tokens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883015"/>
            <a:ext cx="162306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vector: +5.5 / +3.0 points on LoCoMo, +10.0 / +3.3 on LongMemEval-S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620250"/>
            <a:ext cx="162306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B4 · workstation · Gemma E2B / E4B · answers cut at the 768-token cap count as wrong · no phone energy measured · Chapter 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0500"/>
            <a:ext cx="162306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the ranking an artefact of my prompt?</a:t>
            </a:r>
          </a:p>
        </p:txBody>
      </p:sp>
      <p:sp>
        <p:nvSpPr>
          <p:cNvPr id="3" name="Freeform 3" descr="Accuracy with our prompt versus the official LoCoMo prompt"/>
          <p:cNvSpPr/>
          <p:nvPr/>
        </p:nvSpPr>
        <p:spPr>
          <a:xfrm>
            <a:off x="1947862" y="1709738"/>
            <a:ext cx="14392275" cy="6286500"/>
          </a:xfrm>
          <a:custGeom>
            <a:avLst/>
            <a:gdLst/>
            <a:ahLst/>
            <a:cxnLst/>
            <a:rect l="l" t="t" r="r" b="b"/>
            <a:pathLst>
              <a:path w="14392275" h="6286500">
                <a:moveTo>
                  <a:pt x="0" y="0"/>
                </a:moveTo>
                <a:lnTo>
                  <a:pt x="14392276" y="0"/>
                </a:lnTo>
                <a:lnTo>
                  <a:pt x="14392276" y="6286500"/>
                </a:lnTo>
                <a:lnTo>
                  <a:pt x="0" y="6286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8234363"/>
            <a:ext cx="162306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Official LoCoMo prompt: 3–6 points lower, same ranking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042082"/>
            <a:ext cx="162306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E2B: vector 36.0 → 32.0% · GraphRAG v3 21.5 → 17.5% · full context 7.5 → 1.5%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620250"/>
            <a:ext cx="162306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B5 · workstation · LoCoMo n=200 · Gemma E2B / E4B · whiskers: Wilson 95% intervals · Chapter 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0500"/>
            <a:ext cx="162306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Phone workload: five readers, two memories</a:t>
            </a:r>
          </a:p>
        </p:txBody>
      </p:sp>
      <p:sp>
        <p:nvSpPr>
          <p:cNvPr id="3" name="Freeform 3" descr="Phone accuracy, energy, latency, thermal and memory for five readers"/>
          <p:cNvSpPr/>
          <p:nvPr/>
        </p:nvSpPr>
        <p:spPr>
          <a:xfrm>
            <a:off x="3206055" y="1143000"/>
            <a:ext cx="11792164" cy="6930390"/>
          </a:xfrm>
          <a:custGeom>
            <a:avLst/>
            <a:gdLst/>
            <a:ahLst/>
            <a:cxnLst/>
            <a:rect l="l" t="t" r="r" b="b"/>
            <a:pathLst>
              <a:path w="11792164" h="6930390">
                <a:moveTo>
                  <a:pt x="0" y="0"/>
                </a:moveTo>
                <a:lnTo>
                  <a:pt x="11792164" y="0"/>
                </a:lnTo>
                <a:lnTo>
                  <a:pt x="11792164" y="6930390"/>
                </a:lnTo>
                <a:lnTo>
                  <a:pt x="0" y="6930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" r="-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8271986"/>
            <a:ext cx="162306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Retrieval: faster, lower energy for four readers; RAM similar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042082"/>
            <a:ext cx="162306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median query time: E2B 420.7 → 54.5 s · E4B 759.7 → 93.0 s · hottest zone 0.5–3.7 °C warmer with retrieval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620250"/>
            <a:ext cx="162306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B6 · Galaxy S23 Ultra · LoCoMo n=20 · grey dots = sittings · temperature = hottest thermal zone, not battery · Chapter 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0500"/>
            <a:ext cx="162306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Where the phone's time goes</a:t>
            </a:r>
          </a:p>
        </p:txBody>
      </p:sp>
      <p:sp>
        <p:nvSpPr>
          <p:cNvPr id="3" name="Freeform 3" descr="Measured query time against prompt length on the S23, Gemma 4 E2B"/>
          <p:cNvSpPr/>
          <p:nvPr/>
        </p:nvSpPr>
        <p:spPr>
          <a:xfrm>
            <a:off x="3511564" y="1143000"/>
            <a:ext cx="10896124" cy="7177088"/>
          </a:xfrm>
          <a:custGeom>
            <a:avLst/>
            <a:gdLst/>
            <a:ahLst/>
            <a:cxnLst/>
            <a:rect l="l" t="t" r="r" b="b"/>
            <a:pathLst>
              <a:path w="10896124" h="7177088">
                <a:moveTo>
                  <a:pt x="0" y="0"/>
                </a:moveTo>
                <a:lnTo>
                  <a:pt x="10896124" y="0"/>
                </a:lnTo>
                <a:lnTo>
                  <a:pt x="10896124" y="7177088"/>
                </a:lnTo>
                <a:lnTo>
                  <a:pt x="0" y="7177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" b="-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8395335"/>
            <a:ext cx="162306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Query time follows prompt length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042082"/>
            <a:ext cx="162306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full context ≈ 4,900 tokens: 411–431 s median per sitting · 10 turns ≈ 680 tokens: 46–65 s · 2 turns ≈ 290 tokens: ≈ 21 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620250"/>
            <a:ext cx="162306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B7 · Galaxy S23 Ultra · Gemma 4 E2B · every answered question · prefill and decode not separated · Chapter 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0500"/>
            <a:ext cx="162306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Is RAM the limit?</a:t>
            </a:r>
          </a:p>
        </p:txBody>
      </p:sp>
      <p:sp>
        <p:nvSpPr>
          <p:cNvPr id="3" name="Freeform 3" descr="Calculated KV cache size versus measured free RAM on the S23 (regenerated fig16)"/>
          <p:cNvSpPr/>
          <p:nvPr/>
        </p:nvSpPr>
        <p:spPr>
          <a:xfrm>
            <a:off x="3771900" y="1231427"/>
            <a:ext cx="10744200" cy="6286500"/>
          </a:xfrm>
          <a:custGeom>
            <a:avLst/>
            <a:gdLst/>
            <a:ahLst/>
            <a:cxnLst/>
            <a:rect l="l" t="t" r="r" b="b"/>
            <a:pathLst>
              <a:path w="10744200" h="6286500">
                <a:moveTo>
                  <a:pt x="0" y="0"/>
                </a:moveTo>
                <a:lnTo>
                  <a:pt x="10744200" y="0"/>
                </a:lnTo>
                <a:lnTo>
                  <a:pt x="10744200" y="6286500"/>
                </a:lnTo>
                <a:lnTo>
                  <a:pt x="0" y="6286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38" t="-1717" r="-1838" b="-171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8086399"/>
            <a:ext cx="162306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Not at these lengths: the KV cache is tens of megabytes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883015"/>
            <a:ext cx="162306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8,192-token cache: 57 MB (E2B), 155 MB (E4B) · RAM still free at the highest peak: 4.4 / 5.0 GB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620250"/>
            <a:ext cx="162306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B8 · KV cache calculated from the GGUF layer shapes (f16) · free RAM measured on the S23 · Appendix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0500"/>
            <a:ext cx="162306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Why phone accuracy is measured on the phone</a:t>
            </a:r>
          </a:p>
        </p:txBody>
      </p:sp>
      <p:sp>
        <p:nvSpPr>
          <p:cNvPr id="3" name="Freeform 3" descr="Workstation to phone parity gate: 83 percent agreement against a 90 percent threshold"/>
          <p:cNvSpPr/>
          <p:nvPr/>
        </p:nvSpPr>
        <p:spPr>
          <a:xfrm>
            <a:off x="2105025" y="1327060"/>
            <a:ext cx="14077950" cy="6286500"/>
          </a:xfrm>
          <a:custGeom>
            <a:avLst/>
            <a:gdLst/>
            <a:ahLst/>
            <a:cxnLst/>
            <a:rect l="l" t="t" r="r" b="b"/>
            <a:pathLst>
              <a:path w="14077950" h="6286500">
                <a:moveTo>
                  <a:pt x="0" y="0"/>
                </a:moveTo>
                <a:lnTo>
                  <a:pt x="14077950" y="0"/>
                </a:lnTo>
                <a:lnTo>
                  <a:pt x="14077950" y="6286500"/>
                </a:lnTo>
                <a:lnTo>
                  <a:pt x="0" y="6286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" r="-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8175535"/>
            <a:ext cx="162306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Workstation and phone verdicts agreed on 83 of 100 questions, below the 90% rule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975635"/>
            <a:ext cx="162306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Workstation accuracy can not replace phone's own answers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620250"/>
            <a:ext cx="162306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B9 · LoCoMo, 100 paired questions · Wilson 95% interval 74.5–89.0% · exact string match 40% · Appendix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0500"/>
            <a:ext cx="16230600" cy="68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SPE on both Gemma readers</a:t>
            </a:r>
          </a:p>
        </p:txBody>
      </p:sp>
      <p:sp>
        <p:nvSpPr>
          <p:cNvPr id="3" name="Freeform 3" descr="SPE accuracy versus prompt tokens for Gemma E2B and E4B beside GraphRAG v3, GraphRAG v4, vector retrieval and the oracle"/>
          <p:cNvSpPr/>
          <p:nvPr/>
        </p:nvSpPr>
        <p:spPr>
          <a:xfrm>
            <a:off x="1000125" y="1143000"/>
            <a:ext cx="16287750" cy="6972300"/>
          </a:xfrm>
          <a:custGeom>
            <a:avLst/>
            <a:gdLst/>
            <a:ahLst/>
            <a:cxnLst/>
            <a:rect l="l" t="t" r="r" b="b"/>
            <a:pathLst>
              <a:path w="16287750" h="6972300">
                <a:moveTo>
                  <a:pt x="0" y="0"/>
                </a:moveTo>
                <a:lnTo>
                  <a:pt x="16287750" y="0"/>
                </a:lnTo>
                <a:lnTo>
                  <a:pt x="16287750" y="6972300"/>
                </a:lnTo>
                <a:lnTo>
                  <a:pt x="0" y="6972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8234363"/>
            <a:ext cx="16230600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22D3EE"/>
                </a:solidFill>
                <a:latin typeface="Poppins Bold"/>
                <a:ea typeface="Poppins Bold"/>
                <a:cs typeface="Poppins Bold"/>
                <a:sym typeface="Poppins Bold"/>
              </a:rPr>
              <a:t>No SPE configuration reached graph + source text or vector retrieval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042082"/>
            <a:ext cx="16230600" cy="3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E2B: SPE 23.0 / 27.0% · GraphRAG v4 33.0% · oracle 35.0%   —   E4B: SPE 25.5 / 25.0% · GraphRAG v4 32.5% · oracle 33.5%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620250"/>
            <a:ext cx="16230600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B11 · workstation · LoCoMo n=200 · Chapter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2767</Words>
  <Application>Microsoft Office PowerPoint</Application>
  <PresentationFormat>Custom</PresentationFormat>
  <Paragraphs>357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1" baseType="lpstr">
      <vt:lpstr>Arimo Bold</vt:lpstr>
      <vt:lpstr>Inter</vt:lpstr>
      <vt:lpstr>Poppins Italics</vt:lpstr>
      <vt:lpstr>Poppins Bold</vt:lpstr>
      <vt:lpstr>Inter Italics</vt:lpstr>
      <vt:lpstr>Canva Sans Italics</vt:lpstr>
      <vt:lpstr>Raleway</vt:lpstr>
      <vt:lpstr>Calibri</vt:lpstr>
      <vt:lpstr>Arimo Italics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AI Future Presentation</dc:title>
  <cp:lastModifiedBy>IOANNIS MPOUZAS</cp:lastModifiedBy>
  <cp:revision>2</cp:revision>
  <dcterms:created xsi:type="dcterms:W3CDTF">2006-08-16T00:00:00Z</dcterms:created>
  <dcterms:modified xsi:type="dcterms:W3CDTF">2026-10-26T08:52:09Z</dcterms:modified>
  <dc:identifier>DAHWaWCptiM</dc:identifier>
</cp:coreProperties>
</file>